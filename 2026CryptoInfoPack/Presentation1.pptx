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5" r:id="rId7"/>
    <p:sldId id="264" r:id="rId8"/>
    <p:sldId id="263" r:id="rId9"/>
    <p:sldId id="262" r:id="rId10"/>
    <p:sldId id="261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59"/>
    <p:restoredTop sz="94620"/>
  </p:normalViewPr>
  <p:slideViewPr>
    <p:cSldViewPr snapToGrid="0">
      <p:cViewPr>
        <p:scale>
          <a:sx n="174" d="100"/>
          <a:sy n="174" d="100"/>
        </p:scale>
        <p:origin x="508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1D94-0441-3507-C041-B32CC51A3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70A73-863F-B40E-BA38-E618A3F98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2F023-F6D1-625F-A182-32DD2753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390F-3713-457F-6DF4-54B3449D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78FB8-AD32-9217-B753-84847324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0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AD056-F2A7-BA23-9573-5ED437E1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12B1A-B716-3ED4-5114-3004E9993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61D8-B703-6C34-E0CD-AAAD9F91C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CCCD3-0568-55E3-BF14-8113268A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89B7C-6CFB-D573-806B-EAFF1A3B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3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09DF-A6FA-041C-7493-CF4E8B49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779E1-3BA6-5DC1-0A33-E6ADA641C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F2ED2-CD4E-4724-5C2E-D4AB214D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1AB1F-E172-FC8C-35E3-3E0597045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A162E-85B5-4559-4E16-7C2D8F41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6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475BCE-A612-CFAF-E4EE-2E89C8922FA4}"/>
              </a:ext>
            </a:extLst>
          </p:cNvPr>
          <p:cNvSpPr/>
          <p:nvPr userDrawn="1"/>
        </p:nvSpPr>
        <p:spPr>
          <a:xfrm>
            <a:off x="-17005" y="-3754"/>
            <a:ext cx="12209005" cy="74826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07031-E675-A5E6-7165-0A8F31D4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36" y="0"/>
            <a:ext cx="7391400" cy="717569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72AC48B-74C7-372C-E7C1-14E28B451723}"/>
              </a:ext>
            </a:extLst>
          </p:cNvPr>
          <p:cNvSpPr txBox="1">
            <a:spLocks/>
          </p:cNvSpPr>
          <p:nvPr userDrawn="1"/>
        </p:nvSpPr>
        <p:spPr>
          <a:xfrm>
            <a:off x="445805" y="238106"/>
            <a:ext cx="1827631" cy="295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900" b="0" i="0" kern="1200" cap="all" dirty="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Crypto Basics • Mini Pack</a:t>
            </a:r>
            <a:endParaRPr lang="en-US" sz="900" b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B9D389-966B-1BFF-29DB-382161447082}"/>
              </a:ext>
            </a:extLst>
          </p:cNvPr>
          <p:cNvSpPr/>
          <p:nvPr userDrawn="1"/>
        </p:nvSpPr>
        <p:spPr>
          <a:xfrm>
            <a:off x="53878" y="176709"/>
            <a:ext cx="308540" cy="295242"/>
          </a:xfrm>
          <a:prstGeom prst="ellipse">
            <a:avLst/>
          </a:prstGeom>
          <a:solidFill>
            <a:schemeClr val="accent1">
              <a:alpha val="4695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168793-05FF-3014-BA20-3CF7EC26E874}"/>
              </a:ext>
            </a:extLst>
          </p:cNvPr>
          <p:cNvSpPr/>
          <p:nvPr userDrawn="1"/>
        </p:nvSpPr>
        <p:spPr>
          <a:xfrm>
            <a:off x="104542" y="225827"/>
            <a:ext cx="207212" cy="1970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E408596-35DB-F16A-DD18-24E4BDE290B8}"/>
              </a:ext>
            </a:extLst>
          </p:cNvPr>
          <p:cNvSpPr/>
          <p:nvPr userDrawn="1"/>
        </p:nvSpPr>
        <p:spPr>
          <a:xfrm>
            <a:off x="260097" y="892131"/>
            <a:ext cx="6325827" cy="5789160"/>
          </a:xfrm>
          <a:prstGeom prst="roundRect">
            <a:avLst>
              <a:gd name="adj" fmla="val 229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2">
                <a:lumMod val="25000"/>
                <a:lumOff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7552E0-C751-B455-02C0-3D32823BA1B5}"/>
              </a:ext>
            </a:extLst>
          </p:cNvPr>
          <p:cNvSpPr/>
          <p:nvPr userDrawn="1"/>
        </p:nvSpPr>
        <p:spPr>
          <a:xfrm>
            <a:off x="6855195" y="892131"/>
            <a:ext cx="5076708" cy="5789160"/>
          </a:xfrm>
          <a:prstGeom prst="roundRect">
            <a:avLst>
              <a:gd name="adj" fmla="val 229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2">
                <a:lumMod val="25000"/>
                <a:lumOff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7E0B0299-9814-6EED-553C-C972F49615A1}"/>
              </a:ext>
            </a:extLst>
          </p:cNvPr>
          <p:cNvSpPr txBox="1">
            <a:spLocks/>
          </p:cNvSpPr>
          <p:nvPr userDrawn="1"/>
        </p:nvSpPr>
        <p:spPr>
          <a:xfrm>
            <a:off x="445805" y="90484"/>
            <a:ext cx="1827631" cy="295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1050" b="1" i="0" kern="1200" cap="all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Scotiabank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D8284B-E48D-C464-B626-F2331D813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754" y="924974"/>
            <a:ext cx="6234901" cy="570719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67C5DAD-FC08-7C33-935F-70AC967E62C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904223" y="924974"/>
            <a:ext cx="4976023" cy="575631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50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475BCE-A612-CFAF-E4EE-2E89C8922FA4}"/>
              </a:ext>
            </a:extLst>
          </p:cNvPr>
          <p:cNvSpPr/>
          <p:nvPr userDrawn="1"/>
        </p:nvSpPr>
        <p:spPr>
          <a:xfrm>
            <a:off x="-17005" y="-3754"/>
            <a:ext cx="12209005" cy="74826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07031-E675-A5E6-7165-0A8F31D4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36" y="0"/>
            <a:ext cx="7391400" cy="717569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72AC48B-74C7-372C-E7C1-14E28B451723}"/>
              </a:ext>
            </a:extLst>
          </p:cNvPr>
          <p:cNvSpPr txBox="1">
            <a:spLocks/>
          </p:cNvSpPr>
          <p:nvPr userDrawn="1"/>
        </p:nvSpPr>
        <p:spPr>
          <a:xfrm>
            <a:off x="445805" y="238106"/>
            <a:ext cx="1827631" cy="295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900" b="0" i="0" kern="1200" cap="all" dirty="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Crypto Basics • Mini Pack</a:t>
            </a:r>
            <a:endParaRPr lang="en-US" sz="900" b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B9D389-966B-1BFF-29DB-382161447082}"/>
              </a:ext>
            </a:extLst>
          </p:cNvPr>
          <p:cNvSpPr/>
          <p:nvPr userDrawn="1"/>
        </p:nvSpPr>
        <p:spPr>
          <a:xfrm>
            <a:off x="53878" y="176709"/>
            <a:ext cx="308540" cy="295242"/>
          </a:xfrm>
          <a:prstGeom prst="ellipse">
            <a:avLst/>
          </a:prstGeom>
          <a:solidFill>
            <a:schemeClr val="accent1">
              <a:alpha val="4695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168793-05FF-3014-BA20-3CF7EC26E874}"/>
              </a:ext>
            </a:extLst>
          </p:cNvPr>
          <p:cNvSpPr/>
          <p:nvPr userDrawn="1"/>
        </p:nvSpPr>
        <p:spPr>
          <a:xfrm>
            <a:off x="104542" y="225827"/>
            <a:ext cx="207212" cy="1970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E408596-35DB-F16A-DD18-24E4BDE290B8}"/>
              </a:ext>
            </a:extLst>
          </p:cNvPr>
          <p:cNvSpPr/>
          <p:nvPr userDrawn="1"/>
        </p:nvSpPr>
        <p:spPr>
          <a:xfrm>
            <a:off x="260097" y="892131"/>
            <a:ext cx="5076709" cy="5789160"/>
          </a:xfrm>
          <a:prstGeom prst="roundRect">
            <a:avLst>
              <a:gd name="adj" fmla="val 229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2">
                <a:lumMod val="25000"/>
                <a:lumOff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7552E0-C751-B455-02C0-3D32823BA1B5}"/>
              </a:ext>
            </a:extLst>
          </p:cNvPr>
          <p:cNvSpPr/>
          <p:nvPr userDrawn="1"/>
        </p:nvSpPr>
        <p:spPr>
          <a:xfrm>
            <a:off x="5592987" y="892131"/>
            <a:ext cx="6338916" cy="5789160"/>
          </a:xfrm>
          <a:prstGeom prst="roundRect">
            <a:avLst>
              <a:gd name="adj" fmla="val 229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2">
                <a:lumMod val="25000"/>
                <a:lumOff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7E0B0299-9814-6EED-553C-C972F49615A1}"/>
              </a:ext>
            </a:extLst>
          </p:cNvPr>
          <p:cNvSpPr txBox="1">
            <a:spLocks/>
          </p:cNvSpPr>
          <p:nvPr userDrawn="1"/>
        </p:nvSpPr>
        <p:spPr>
          <a:xfrm>
            <a:off x="445805" y="90484"/>
            <a:ext cx="1827631" cy="295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1050" b="1" i="0" kern="1200" cap="all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Scotiabank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D8284B-E48D-C464-B626-F2331D813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754" y="924974"/>
            <a:ext cx="5017571" cy="570719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67C5DAD-FC08-7C33-935F-70AC967E62C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592987" y="924974"/>
            <a:ext cx="6287259" cy="575631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35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475BCE-A612-CFAF-E4EE-2E89C8922FA4}"/>
              </a:ext>
            </a:extLst>
          </p:cNvPr>
          <p:cNvSpPr/>
          <p:nvPr userDrawn="1"/>
        </p:nvSpPr>
        <p:spPr>
          <a:xfrm>
            <a:off x="-17005" y="-3754"/>
            <a:ext cx="12209005" cy="74826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07031-E675-A5E6-7165-0A8F31D4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36" y="0"/>
            <a:ext cx="7391400" cy="717569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72AC48B-74C7-372C-E7C1-14E28B451723}"/>
              </a:ext>
            </a:extLst>
          </p:cNvPr>
          <p:cNvSpPr txBox="1">
            <a:spLocks/>
          </p:cNvSpPr>
          <p:nvPr userDrawn="1"/>
        </p:nvSpPr>
        <p:spPr>
          <a:xfrm>
            <a:off x="445805" y="238106"/>
            <a:ext cx="1827631" cy="295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900" b="0" i="0" kern="1200" cap="all" dirty="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Crypto Basics • Mini Pack</a:t>
            </a:r>
            <a:endParaRPr lang="en-US" sz="900" b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B9D389-966B-1BFF-29DB-382161447082}"/>
              </a:ext>
            </a:extLst>
          </p:cNvPr>
          <p:cNvSpPr/>
          <p:nvPr userDrawn="1"/>
        </p:nvSpPr>
        <p:spPr>
          <a:xfrm>
            <a:off x="53878" y="176709"/>
            <a:ext cx="308540" cy="295242"/>
          </a:xfrm>
          <a:prstGeom prst="ellipse">
            <a:avLst/>
          </a:prstGeom>
          <a:solidFill>
            <a:schemeClr val="accent1">
              <a:alpha val="4695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168793-05FF-3014-BA20-3CF7EC26E874}"/>
              </a:ext>
            </a:extLst>
          </p:cNvPr>
          <p:cNvSpPr/>
          <p:nvPr userDrawn="1"/>
        </p:nvSpPr>
        <p:spPr>
          <a:xfrm>
            <a:off x="104542" y="225827"/>
            <a:ext cx="207212" cy="1970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E408596-35DB-F16A-DD18-24E4BDE290B8}"/>
              </a:ext>
            </a:extLst>
          </p:cNvPr>
          <p:cNvSpPr/>
          <p:nvPr userDrawn="1"/>
        </p:nvSpPr>
        <p:spPr>
          <a:xfrm>
            <a:off x="260097" y="892131"/>
            <a:ext cx="6325827" cy="3741577"/>
          </a:xfrm>
          <a:prstGeom prst="roundRect">
            <a:avLst>
              <a:gd name="adj" fmla="val 2297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4200000" scaled="0"/>
          </a:gradFill>
          <a:ln w="3175"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tx2">
                <a:lumMod val="25000"/>
                <a:lumOff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7552E0-C751-B455-02C0-3D32823BA1B5}"/>
              </a:ext>
            </a:extLst>
          </p:cNvPr>
          <p:cNvSpPr/>
          <p:nvPr userDrawn="1"/>
        </p:nvSpPr>
        <p:spPr>
          <a:xfrm>
            <a:off x="6855195" y="892131"/>
            <a:ext cx="5076708" cy="3741577"/>
          </a:xfrm>
          <a:prstGeom prst="roundRect">
            <a:avLst>
              <a:gd name="adj" fmla="val 229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2">
                <a:lumMod val="25000"/>
                <a:lumOff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7E0B0299-9814-6EED-553C-C972F49615A1}"/>
              </a:ext>
            </a:extLst>
          </p:cNvPr>
          <p:cNvSpPr txBox="1">
            <a:spLocks/>
          </p:cNvSpPr>
          <p:nvPr userDrawn="1"/>
        </p:nvSpPr>
        <p:spPr>
          <a:xfrm>
            <a:off x="445805" y="90484"/>
            <a:ext cx="1827631" cy="295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1050" b="1" i="0" kern="1200" cap="all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Scotiabank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D8284B-E48D-C464-B626-F2331D813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754" y="924974"/>
            <a:ext cx="6234901" cy="36526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67C5DAD-FC08-7C33-935F-70AC967E62C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904223" y="924974"/>
            <a:ext cx="4976023" cy="360775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3D7FEE-2F20-72EA-4E34-6CD29D4A064A}"/>
              </a:ext>
            </a:extLst>
          </p:cNvPr>
          <p:cNvSpPr/>
          <p:nvPr userDrawn="1"/>
        </p:nvSpPr>
        <p:spPr>
          <a:xfrm>
            <a:off x="260850" y="4796549"/>
            <a:ext cx="11671053" cy="1884741"/>
          </a:xfrm>
          <a:prstGeom prst="roundRect">
            <a:avLst>
              <a:gd name="adj" fmla="val 229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2">
                <a:lumMod val="25000"/>
                <a:lumOff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602BA-B050-3218-F99D-1A11D158AEA0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11754" y="4841351"/>
            <a:ext cx="11503295" cy="18399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20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8B6FB-52DF-B9AA-ADB0-0054030E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4CA94-C895-3A87-45D8-06D113E02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789C0-B2FA-BC37-A8CB-B2CBEDAAB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7AFA5-56E9-6EBC-9F1F-6F1862BB6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5B515-6C20-7323-2669-2FAFE93C6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833E3-7910-0CF9-7424-34D6B3452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CC684-89CC-0FEB-246C-7DEE0205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9C7231-C8F8-89B7-194E-8F3DD578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6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FD6A-FC58-D628-0D5D-48FE3669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F79C9-9A73-109D-FDD8-799E94D6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2B801-EB7C-FFC1-EA57-5EA3ECF23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F663A-FBC8-DC8B-ED18-0992A5C4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1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56D2F-6E23-49B2-BBAE-292EE32D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3ECA-C52F-2879-CF25-EA1C7E97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C0EEC-E2FB-0244-3A4E-DA54F708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11AD-7999-C88F-E1D7-9EBA4C63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060C8-490E-81A9-3F85-1BA713A7C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01447-7B7C-7BE4-BEF8-42A05F384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D8D6D-49EB-0C9E-14CC-902ECC64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FA480-8676-371B-AA20-E26F2E5F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D09BF-C023-C0FD-8C3D-B4D0E466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38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8FBD-98BB-BB22-EEC2-7AD4435D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7AE17-0BB6-56CC-7151-7734D90EE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31904-23E5-8BB4-9A36-93DC43525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9E55-5B3B-04F0-C1CB-6CAB25E8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8AD29-A9C8-33F0-9AD6-A92702C0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09AF4-D0DC-F5AE-BC7C-4536A5FA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31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13FF-1568-3D3F-64DF-28F12B0D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45951-8B70-EC4E-BDF9-AD7DE74D8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182F9-DED9-CEF6-DACB-D2411D00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99561-985B-0447-B0E2-C1F17985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717A6-FBCA-28AB-D3C7-1B58BEA4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00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8EDADD-0256-2154-5DA1-6080E8B7C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8823B-6264-F134-7E6E-D68AA9505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A289E-05C2-1EF8-9234-7CA8072A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F36-622E-64DF-CF5A-98D6F3F2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7D13C-B4D4-2ECF-6ED0-73739634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7565A-B921-B96F-88DE-3E4E40A6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B587D-CC60-2EEA-C801-B6E1E6C89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1FFCF-AC56-854E-3A5C-B2CA8F32D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FA137-BB4A-A946-87DB-30A685A890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3882B-43C6-8E93-DEA5-B94920439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045FF-F2F0-07B6-6B54-E2F5A0A42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0D542-0AED-5A4F-A753-D0006004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9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F5A196A-E48E-7137-FB0F-4BDA55C17FC4}"/>
              </a:ext>
            </a:extLst>
          </p:cNvPr>
          <p:cNvSpPr/>
          <p:nvPr/>
        </p:nvSpPr>
        <p:spPr>
          <a:xfrm>
            <a:off x="6999989" y="2850625"/>
            <a:ext cx="4784490" cy="1498601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28E31-3E5B-D0D8-9CD1-E310DD25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1) What does a bank do today, and why do people trust it?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6E947-FD2C-A4BD-EADC-95D7CB75C1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Core Role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Most “moving money” is really about </a:t>
            </a:r>
            <a:r>
              <a:rPr lang="en-HK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securely updating records</a:t>
            </a: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— within the bank and across multiple banks.</a:t>
            </a:r>
            <a:endParaRPr lang="en-US" sz="1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F9590-B761-9301-607A-DE5A7536F97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Bank A ledger + Bank B ledger</a:t>
            </a:r>
          </a:p>
          <a:p>
            <a:pPr marL="0" indent="0"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money moves across banks, it’s usually 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messages + book updates + reconciliation.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F80FD14-D9A9-BA66-246D-DB830433C7F1}"/>
              </a:ext>
            </a:extLst>
          </p:cNvPr>
          <p:cNvSpPr/>
          <p:nvPr/>
        </p:nvSpPr>
        <p:spPr>
          <a:xfrm>
            <a:off x="469900" y="4543425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8ED1863-F719-D351-2CD8-E42F3EF8FA2D}"/>
              </a:ext>
            </a:extLst>
          </p:cNvPr>
          <p:cNvSpPr/>
          <p:nvPr/>
        </p:nvSpPr>
        <p:spPr>
          <a:xfrm>
            <a:off x="577850" y="4664075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FD806C-29D2-F0C8-E938-D1D7DB653175}"/>
              </a:ext>
            </a:extLst>
          </p:cNvPr>
          <p:cNvSpPr txBox="1"/>
          <p:nvPr/>
        </p:nvSpPr>
        <p:spPr>
          <a:xfrm>
            <a:off x="1111250" y="4664075"/>
            <a:ext cx="49720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Reconciliation</a:t>
            </a:r>
          </a:p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Because multiple ledgers exist, banks must ensure they match eventually – through investigations and handling exceptions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05DBC7-3CE8-5834-E10A-3FDE6E36B763}"/>
              </a:ext>
            </a:extLst>
          </p:cNvPr>
          <p:cNvSpPr/>
          <p:nvPr/>
        </p:nvSpPr>
        <p:spPr>
          <a:xfrm>
            <a:off x="469900" y="5527675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CA80E1-CD87-BC3D-6F2A-F6882A5C08FA}"/>
              </a:ext>
            </a:extLst>
          </p:cNvPr>
          <p:cNvSpPr/>
          <p:nvPr/>
        </p:nvSpPr>
        <p:spPr>
          <a:xfrm>
            <a:off x="577850" y="5648325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63FF5-A61C-7329-A176-A9E3716109A0}"/>
              </a:ext>
            </a:extLst>
          </p:cNvPr>
          <p:cNvSpPr txBox="1"/>
          <p:nvPr/>
        </p:nvSpPr>
        <p:spPr>
          <a:xfrm>
            <a:off x="1111250" y="5648325"/>
            <a:ext cx="52641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Challenges across banks</a:t>
            </a:r>
          </a:p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Each institution has its own books, leading to reconciliation delays and operational costs</a:t>
            </a:r>
          </a:p>
        </p:txBody>
      </p:sp>
      <p:pic>
        <p:nvPicPr>
          <p:cNvPr id="21" name="Graphic 20" descr="Add with solid fill">
            <a:extLst>
              <a:ext uri="{FF2B5EF4-FFF2-40B4-BE49-F238E27FC236}">
                <a16:creationId xmlns:a16="http://schemas.microsoft.com/office/drawing/2014/main" id="{284F96F1-2215-E26C-5C7E-E2DD976E9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850" y="5659800"/>
            <a:ext cx="360000" cy="360000"/>
          </a:xfrm>
          <a:prstGeom prst="rect">
            <a:avLst/>
          </a:prstGeom>
        </p:spPr>
      </p:pic>
      <p:pic>
        <p:nvPicPr>
          <p:cNvPr id="23" name="Graphic 22" descr="Bar graph with downward trend with solid fill">
            <a:extLst>
              <a:ext uri="{FF2B5EF4-FFF2-40B4-BE49-F238E27FC236}">
                <a16:creationId xmlns:a16="http://schemas.microsoft.com/office/drawing/2014/main" id="{6C469D17-3843-8335-F621-8F108DB70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850" y="4682075"/>
            <a:ext cx="324000" cy="3240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7DDBCEA-CE5E-ECBC-B6DE-28775698D26F}"/>
              </a:ext>
            </a:extLst>
          </p:cNvPr>
          <p:cNvGrpSpPr/>
          <p:nvPr/>
        </p:nvGrpSpPr>
        <p:grpSpPr>
          <a:xfrm>
            <a:off x="469900" y="3559175"/>
            <a:ext cx="5949950" cy="863600"/>
            <a:chOff x="438150" y="2082800"/>
            <a:chExt cx="5949950" cy="8636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CFB2A1-0E60-88F8-95A9-5D75237D6643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DE8C49-0192-6D7A-2247-F967B8329512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DFE1A2-1BA4-BCE2-0DA1-29D52006B8B9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Debit/credit entries</a:t>
              </a:r>
            </a:p>
            <a:p>
              <a:r>
                <a:rPr lang="en-US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Every transaction becomes a </a:t>
              </a:r>
            </a:p>
            <a:p>
              <a:r>
                <a:rPr lang="en-US" sz="105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debit/credit</a:t>
              </a:r>
            </a:p>
            <a:p>
              <a:r>
                <a:rPr lang="en-US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Entry in a controlled ledger</a:t>
              </a: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F24C54DA-B75E-C5C5-1EFE-CEF017E62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9932" y="2245188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5F8235A-F930-69CA-3576-90DB3BA2680A}"/>
              </a:ext>
            </a:extLst>
          </p:cNvPr>
          <p:cNvSpPr/>
          <p:nvPr/>
        </p:nvSpPr>
        <p:spPr>
          <a:xfrm>
            <a:off x="7010536" y="1787927"/>
            <a:ext cx="2023877" cy="9779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9716559-A91A-51AD-F9BD-419CA0AD7758}"/>
              </a:ext>
            </a:extLst>
          </p:cNvPr>
          <p:cNvSpPr/>
          <p:nvPr/>
        </p:nvSpPr>
        <p:spPr>
          <a:xfrm>
            <a:off x="7135763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Bank “A” Ledger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B67344-0CF0-D195-5F8B-86D6D9516A60}"/>
              </a:ext>
            </a:extLst>
          </p:cNvPr>
          <p:cNvSpPr txBox="1"/>
          <p:nvPr/>
        </p:nvSpPr>
        <p:spPr>
          <a:xfrm>
            <a:off x="7059563" y="2174366"/>
            <a:ext cx="1828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Bank A’s internal record of balances and transactions.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10339E8-90AC-0260-5EB4-6AE5415E1A5A}"/>
              </a:ext>
            </a:extLst>
          </p:cNvPr>
          <p:cNvSpPr/>
          <p:nvPr/>
        </p:nvSpPr>
        <p:spPr>
          <a:xfrm>
            <a:off x="9771149" y="1787927"/>
            <a:ext cx="2023877" cy="9779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53AEA74-DCD4-C720-1EC3-AF8C93E38D2F}"/>
              </a:ext>
            </a:extLst>
          </p:cNvPr>
          <p:cNvSpPr/>
          <p:nvPr/>
        </p:nvSpPr>
        <p:spPr>
          <a:xfrm>
            <a:off x="9896376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Bank “B” Ledger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3BBB8F-44A5-6634-67A1-A7D7E03AED02}"/>
              </a:ext>
            </a:extLst>
          </p:cNvPr>
          <p:cNvSpPr txBox="1"/>
          <p:nvPr/>
        </p:nvSpPr>
        <p:spPr>
          <a:xfrm>
            <a:off x="9820176" y="2174366"/>
            <a:ext cx="1828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Bank B’s internal record of balances and transactions.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E14BF3-DFEE-4CE5-8E56-9F3DBD69E948}"/>
              </a:ext>
            </a:extLst>
          </p:cNvPr>
          <p:cNvSpPr txBox="1"/>
          <p:nvPr/>
        </p:nvSpPr>
        <p:spPr>
          <a:xfrm>
            <a:off x="9244986" y="210542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01595A6-F86B-D492-4D41-8B672408002B}"/>
              </a:ext>
            </a:extLst>
          </p:cNvPr>
          <p:cNvSpPr/>
          <p:nvPr/>
        </p:nvSpPr>
        <p:spPr>
          <a:xfrm>
            <a:off x="6999989" y="4569226"/>
            <a:ext cx="4784490" cy="1498601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B2E6D50-0D2D-0BAE-37B3-9A1A6CB0DBE6}"/>
              </a:ext>
            </a:extLst>
          </p:cNvPr>
          <p:cNvSpPr/>
          <p:nvPr/>
        </p:nvSpPr>
        <p:spPr>
          <a:xfrm>
            <a:off x="7135763" y="2969026"/>
            <a:ext cx="1003300" cy="234951"/>
          </a:xfrm>
          <a:prstGeom prst="roundRect">
            <a:avLst>
              <a:gd name="adj" fmla="val 50000"/>
            </a:avLst>
          </a:prstGeom>
          <a:solidFill>
            <a:srgbClr val="FFC000">
              <a:alpha val="40572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RECONCILIATION</a:t>
            </a:r>
            <a:endParaRPr lang="en-US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31C07F-B712-D61E-854B-A246F3D70307}"/>
              </a:ext>
            </a:extLst>
          </p:cNvPr>
          <p:cNvSpPr txBox="1"/>
          <p:nvPr/>
        </p:nvSpPr>
        <p:spPr>
          <a:xfrm>
            <a:off x="7059563" y="3253866"/>
            <a:ext cx="43233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Because multiple ledgers exists, banks must ensure they match  -  even if it takes time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1959F1C-2290-2E10-0363-95594D175436}"/>
              </a:ext>
            </a:extLst>
          </p:cNvPr>
          <p:cNvSpPr/>
          <p:nvPr/>
        </p:nvSpPr>
        <p:spPr>
          <a:xfrm>
            <a:off x="7135763" y="4667652"/>
            <a:ext cx="939800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TRUST DRIVERS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B3836F-D137-0381-1609-6676768E119B}"/>
              </a:ext>
            </a:extLst>
          </p:cNvPr>
          <p:cNvSpPr txBox="1"/>
          <p:nvPr/>
        </p:nvSpPr>
        <p:spPr>
          <a:xfrm>
            <a:off x="7059563" y="4945092"/>
            <a:ext cx="43233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Controls + regulation + audits are why people trust the banks record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C338545-D301-C3BA-6710-061D50EB1D15}"/>
              </a:ext>
            </a:extLst>
          </p:cNvPr>
          <p:cNvSpPr/>
          <p:nvPr/>
        </p:nvSpPr>
        <p:spPr>
          <a:xfrm>
            <a:off x="457064" y="1765301"/>
            <a:ext cx="1740036" cy="1536700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200" b="1" dirty="0">
                <a:solidFill>
                  <a:schemeClr val="tx1"/>
                </a:solidFill>
              </a:rPr>
              <a:t>Interest income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1430C8-5DC8-2B6E-D045-DFDD0C6DD077}"/>
              </a:ext>
            </a:extLst>
          </p:cNvPr>
          <p:cNvSpPr txBox="1"/>
          <p:nvPr/>
        </p:nvSpPr>
        <p:spPr>
          <a:xfrm>
            <a:off x="529202" y="2152650"/>
            <a:ext cx="159575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Loans, mortgages, credit — earn spread over funding costs.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EC8482F-560B-4B0B-52E4-1315F0CC6CC8}"/>
              </a:ext>
            </a:extLst>
          </p:cNvPr>
          <p:cNvSpPr/>
          <p:nvPr/>
        </p:nvSpPr>
        <p:spPr>
          <a:xfrm>
            <a:off x="2533582" y="1781577"/>
            <a:ext cx="1740036" cy="1536700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200" b="1" dirty="0">
                <a:solidFill>
                  <a:schemeClr val="tx1"/>
                </a:solidFill>
              </a:rPr>
              <a:t>Non-Interest income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01EFD6-3288-6110-93AB-BF4C3A4E3E20}"/>
              </a:ext>
            </a:extLst>
          </p:cNvPr>
          <p:cNvSpPr txBox="1"/>
          <p:nvPr/>
        </p:nvSpPr>
        <p:spPr>
          <a:xfrm>
            <a:off x="2605720" y="2168926"/>
            <a:ext cx="159575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Payments, account fees, FX spreads, services.</a:t>
            </a:r>
            <a:endParaRPr lang="en-US" sz="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889C5AE-AB0D-E15B-02FD-52426DEC7382}"/>
              </a:ext>
            </a:extLst>
          </p:cNvPr>
          <p:cNvSpPr/>
          <p:nvPr/>
        </p:nvSpPr>
        <p:spPr>
          <a:xfrm>
            <a:off x="4610100" y="1787927"/>
            <a:ext cx="1740036" cy="1536700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Trading income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E18ECB-39C6-BCDD-E92D-8C4EBE2C7EAB}"/>
              </a:ext>
            </a:extLst>
          </p:cNvPr>
          <p:cNvSpPr txBox="1"/>
          <p:nvPr/>
        </p:nvSpPr>
        <p:spPr>
          <a:xfrm>
            <a:off x="4682238" y="2175276"/>
            <a:ext cx="159575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Market activities (FX, securities, derivatives) with control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FED3A1-D9DD-4A96-E8B5-1DE2415B511B}"/>
              </a:ext>
            </a:extLst>
          </p:cNvPr>
          <p:cNvSpPr txBox="1"/>
          <p:nvPr/>
        </p:nvSpPr>
        <p:spPr>
          <a:xfrm>
            <a:off x="8162457" y="2973232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+ investigations + exceptions</a:t>
            </a:r>
          </a:p>
        </p:txBody>
      </p:sp>
    </p:spTree>
    <p:extLst>
      <p:ext uri="{BB962C8B-B14F-4D97-AF65-F5344CB8AC3E}">
        <p14:creationId xmlns:p14="http://schemas.microsoft.com/office/powerpoint/2010/main" val="282338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6A9CB-6027-9D2A-878F-215ADAB7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B9DBD0A4-A7DA-BE83-2844-157CDEEA6253}"/>
              </a:ext>
            </a:extLst>
          </p:cNvPr>
          <p:cNvSpPr/>
          <p:nvPr/>
        </p:nvSpPr>
        <p:spPr>
          <a:xfrm>
            <a:off x="8643705" y="1787927"/>
            <a:ext cx="1300505" cy="1337385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74DE831-F15B-7DC7-3EE7-94D522233CC1}"/>
              </a:ext>
            </a:extLst>
          </p:cNvPr>
          <p:cNvSpPr/>
          <p:nvPr/>
        </p:nvSpPr>
        <p:spPr>
          <a:xfrm>
            <a:off x="7010537" y="4556631"/>
            <a:ext cx="4784490" cy="1016508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2239A4E-2B9A-DE95-CFAC-61BC893DF246}"/>
              </a:ext>
            </a:extLst>
          </p:cNvPr>
          <p:cNvSpPr/>
          <p:nvPr/>
        </p:nvSpPr>
        <p:spPr>
          <a:xfrm>
            <a:off x="3835536" y="1834117"/>
            <a:ext cx="2507020" cy="1498601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A4A6F52-8132-A6B4-8617-F3CCE22FFE68}"/>
              </a:ext>
            </a:extLst>
          </p:cNvPr>
          <p:cNvSpPr/>
          <p:nvPr/>
        </p:nvSpPr>
        <p:spPr>
          <a:xfrm>
            <a:off x="6999989" y="3332718"/>
            <a:ext cx="4784490" cy="1016508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B0E64-8428-44D2-B391-374154F1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2) Cryptocurrencies: the shared ledger concept (before blockchain 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88689-76C6-F2A9-2E48-8F478238F2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Traditional finance vs a shared ledger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Traditional finance: each institution keeps its own ledger, requiring reconciliation — creating “multiple versions of truth.”</a:t>
            </a:r>
            <a:endParaRPr lang="en-US" sz="1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63C48-E61A-DB95-3D6C-C563F99BB75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Bank A ledger + Bank B ledger</a:t>
            </a:r>
          </a:p>
          <a:p>
            <a:pPr marL="0" indent="0"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money moves across banks, it’s usually 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messages + book updates + reconciliation.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7288116-7164-ADE6-EA60-C38F618B1CA8}"/>
              </a:ext>
            </a:extLst>
          </p:cNvPr>
          <p:cNvSpPr/>
          <p:nvPr/>
        </p:nvSpPr>
        <p:spPr>
          <a:xfrm>
            <a:off x="469900" y="4543425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017EF7-F88D-7B6E-A876-02DABF9D932B}"/>
              </a:ext>
            </a:extLst>
          </p:cNvPr>
          <p:cNvSpPr/>
          <p:nvPr/>
        </p:nvSpPr>
        <p:spPr>
          <a:xfrm>
            <a:off x="577850" y="4664075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F1FD37-0851-6BE9-F742-3EBC6010CD80}"/>
              </a:ext>
            </a:extLst>
          </p:cNvPr>
          <p:cNvSpPr txBox="1"/>
          <p:nvPr/>
        </p:nvSpPr>
        <p:spPr>
          <a:xfrm>
            <a:off x="1111250" y="4664075"/>
            <a:ext cx="49720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Trust model shift</a:t>
            </a:r>
          </a:p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Instead of trusting one institution’s ledger, participants trust the rules and validation mechanisms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9DAB897-4346-0510-23AB-0253A51AA48F}"/>
              </a:ext>
            </a:extLst>
          </p:cNvPr>
          <p:cNvSpPr/>
          <p:nvPr/>
        </p:nvSpPr>
        <p:spPr>
          <a:xfrm>
            <a:off x="469900" y="5527675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7C019B3-844D-BC8D-BC22-51A4C04AB508}"/>
              </a:ext>
            </a:extLst>
          </p:cNvPr>
          <p:cNvSpPr/>
          <p:nvPr/>
        </p:nvSpPr>
        <p:spPr>
          <a:xfrm>
            <a:off x="577850" y="5648325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2D2F87-7F8A-36A4-C807-15D8268E59B6}"/>
              </a:ext>
            </a:extLst>
          </p:cNvPr>
          <p:cNvSpPr txBox="1"/>
          <p:nvPr/>
        </p:nvSpPr>
        <p:spPr>
          <a:xfrm>
            <a:off x="1111250" y="5648325"/>
            <a:ext cx="52641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Why it matters</a:t>
            </a:r>
          </a:p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Less “who’s right” and more  “we all see the same record”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A16775-5FAC-B6AB-1E98-396BBDA21631}"/>
              </a:ext>
            </a:extLst>
          </p:cNvPr>
          <p:cNvGrpSpPr/>
          <p:nvPr/>
        </p:nvGrpSpPr>
        <p:grpSpPr>
          <a:xfrm>
            <a:off x="469900" y="3559175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EFFC3B-CD12-4B1C-F69A-7ADA1A069095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02FD517-891B-BDE1-ADDF-B7109A633A17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1868C7-BC3C-CD47-E640-726928A6E130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Ledger = record of ownership</a:t>
              </a:r>
            </a:p>
            <a:p>
              <a:r>
                <a:rPr lang="en-US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Crypto provides a way to maintain this record across multiple parties</a:t>
              </a: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EF042AB7-E028-1F80-B9FF-896A7C71C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11AF8D9-A75C-234F-D4A0-EDF85A8BBCFF}"/>
              </a:ext>
            </a:extLst>
          </p:cNvPr>
          <p:cNvSpPr/>
          <p:nvPr/>
        </p:nvSpPr>
        <p:spPr>
          <a:xfrm>
            <a:off x="7010537" y="1787927"/>
            <a:ext cx="1275600" cy="133738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1811BAD-7A3D-DE67-5A46-09542203487D}"/>
              </a:ext>
            </a:extLst>
          </p:cNvPr>
          <p:cNvSpPr/>
          <p:nvPr/>
        </p:nvSpPr>
        <p:spPr>
          <a:xfrm>
            <a:off x="7135763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PARTICIPANT A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907DD-D741-9C79-1416-4DB752B25F15}"/>
              </a:ext>
            </a:extLst>
          </p:cNvPr>
          <p:cNvSpPr txBox="1"/>
          <p:nvPr/>
        </p:nvSpPr>
        <p:spPr>
          <a:xfrm>
            <a:off x="7059563" y="2174366"/>
            <a:ext cx="110289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Submits a transaction request.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FAE303-19E0-B890-74AF-BBC811E450A1}"/>
              </a:ext>
            </a:extLst>
          </p:cNvPr>
          <p:cNvSpPr txBox="1"/>
          <p:nvPr/>
        </p:nvSpPr>
        <p:spPr>
          <a:xfrm>
            <a:off x="8286137" y="2162284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F6A2C3-620D-8E11-1AEF-616E461947E9}"/>
              </a:ext>
            </a:extLst>
          </p:cNvPr>
          <p:cNvSpPr txBox="1"/>
          <p:nvPr/>
        </p:nvSpPr>
        <p:spPr>
          <a:xfrm>
            <a:off x="7059563" y="3780718"/>
            <a:ext cx="43233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Less “who’s right?” and more “we all see the same record.”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3BE8719-F5CE-14DA-0CE4-CD9F853C9538}"/>
              </a:ext>
            </a:extLst>
          </p:cNvPr>
          <p:cNvSpPr/>
          <p:nvPr/>
        </p:nvSpPr>
        <p:spPr>
          <a:xfrm>
            <a:off x="7135763" y="4667652"/>
            <a:ext cx="939800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TRUST DRIVERS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61DE0B-D996-E988-9862-0F5EE4BBFB12}"/>
              </a:ext>
            </a:extLst>
          </p:cNvPr>
          <p:cNvSpPr txBox="1"/>
          <p:nvPr/>
        </p:nvSpPr>
        <p:spPr>
          <a:xfrm>
            <a:off x="7135763" y="4957204"/>
            <a:ext cx="43233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Ledger • shared state • validation • finality (we’ll unpack later)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777E6A-A102-0FBC-B501-8E7C3160BC7E}"/>
              </a:ext>
            </a:extLst>
          </p:cNvPr>
          <p:cNvSpPr/>
          <p:nvPr/>
        </p:nvSpPr>
        <p:spPr>
          <a:xfrm>
            <a:off x="435531" y="1834118"/>
            <a:ext cx="2663269" cy="1498601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715BB3-6DAB-4C30-C699-3D921C0F4780}"/>
              </a:ext>
            </a:extLst>
          </p:cNvPr>
          <p:cNvSpPr txBox="1"/>
          <p:nvPr/>
        </p:nvSpPr>
        <p:spPr>
          <a:xfrm>
            <a:off x="495105" y="2237359"/>
            <a:ext cx="25274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Each institution keeps its own ledger, then reconciles later.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BCDAC-85DD-FD90-9C37-5410476CEA07}"/>
              </a:ext>
            </a:extLst>
          </p:cNvPr>
          <p:cNvSpPr txBox="1"/>
          <p:nvPr/>
        </p:nvSpPr>
        <p:spPr>
          <a:xfrm>
            <a:off x="1597999" y="1956725"/>
            <a:ext cx="1272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many ledgers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042205A-E27F-2737-587B-F3F56AE46185}"/>
              </a:ext>
            </a:extLst>
          </p:cNvPr>
          <p:cNvSpPr/>
          <p:nvPr/>
        </p:nvSpPr>
        <p:spPr>
          <a:xfrm>
            <a:off x="562315" y="1972641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TRADITIONAL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AE225F-77FE-8E66-5E96-0C2C2B0C664C}"/>
              </a:ext>
            </a:extLst>
          </p:cNvPr>
          <p:cNvSpPr txBox="1"/>
          <p:nvPr/>
        </p:nvSpPr>
        <p:spPr>
          <a:xfrm>
            <a:off x="3815060" y="2237359"/>
            <a:ext cx="252749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All participants see the same transaction state (pending/confirmed) without constant reconciliation.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E1AA58-4652-6053-AC80-6BE63A215BCB}"/>
              </a:ext>
            </a:extLst>
          </p:cNvPr>
          <p:cNvSpPr txBox="1"/>
          <p:nvPr/>
        </p:nvSpPr>
        <p:spPr>
          <a:xfrm>
            <a:off x="4917954" y="1956725"/>
            <a:ext cx="1355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One unified view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D090CB2-3523-853D-71D5-721C4B8CD49D}"/>
              </a:ext>
            </a:extLst>
          </p:cNvPr>
          <p:cNvSpPr/>
          <p:nvPr/>
        </p:nvSpPr>
        <p:spPr>
          <a:xfrm>
            <a:off x="3892933" y="1972641"/>
            <a:ext cx="1000507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SHARED LEDGER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26FBDA07-E9DD-90E2-A210-1335BB6F7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682" y="4682075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74CCEDA0-F97A-E6FF-B22B-646E89077D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466" y="3715825"/>
            <a:ext cx="324000" cy="3240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1C3D6EA-1123-4A7C-8D8C-8CC6F4624607}"/>
              </a:ext>
            </a:extLst>
          </p:cNvPr>
          <p:cNvSpPr txBox="1"/>
          <p:nvPr/>
        </p:nvSpPr>
        <p:spPr>
          <a:xfrm>
            <a:off x="3257687" y="2437282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73F8BF6-DBB6-8C75-EA9E-9663958ADB4F}"/>
              </a:ext>
            </a:extLst>
          </p:cNvPr>
          <p:cNvSpPr/>
          <p:nvPr/>
        </p:nvSpPr>
        <p:spPr>
          <a:xfrm>
            <a:off x="7146687" y="3510232"/>
            <a:ext cx="1003300" cy="234951"/>
          </a:xfrm>
          <a:prstGeom prst="roundRect">
            <a:avLst>
              <a:gd name="adj" fmla="val 50000"/>
            </a:avLst>
          </a:prstGeom>
          <a:solidFill>
            <a:srgbClr val="FFC000">
              <a:alpha val="40572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WHY IT MATTERS</a:t>
            </a:r>
            <a:endParaRPr lang="en-US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956540-7524-1F75-2F9D-4B40FC7E97CE}"/>
              </a:ext>
            </a:extLst>
          </p:cNvPr>
          <p:cNvSpPr txBox="1"/>
          <p:nvPr/>
        </p:nvSpPr>
        <p:spPr>
          <a:xfrm>
            <a:off x="8692731" y="2178592"/>
            <a:ext cx="1102894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Stores the agreed state: pending → confirmed (one unified view).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4F44E5E-7EED-111C-BC42-71D7C5FB83E0}"/>
              </a:ext>
            </a:extLst>
          </p:cNvPr>
          <p:cNvSpPr/>
          <p:nvPr/>
        </p:nvSpPr>
        <p:spPr>
          <a:xfrm>
            <a:off x="10470765" y="1792153"/>
            <a:ext cx="1275600" cy="1333158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978F102-97CD-D75F-A84D-DC466897681E}"/>
              </a:ext>
            </a:extLst>
          </p:cNvPr>
          <p:cNvSpPr/>
          <p:nvPr/>
        </p:nvSpPr>
        <p:spPr>
          <a:xfrm>
            <a:off x="10595991" y="1893753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PARTICIPANT B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24BFE1-085D-6E1D-8D13-B050D5CC02C2}"/>
              </a:ext>
            </a:extLst>
          </p:cNvPr>
          <p:cNvSpPr txBox="1"/>
          <p:nvPr/>
        </p:nvSpPr>
        <p:spPr>
          <a:xfrm>
            <a:off x="10519791" y="2178592"/>
            <a:ext cx="110289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Reads the same state and acts on it.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0BB9AD-F41C-F7F8-048E-BA138D19CB59}"/>
              </a:ext>
            </a:extLst>
          </p:cNvPr>
          <p:cNvSpPr txBox="1"/>
          <p:nvPr/>
        </p:nvSpPr>
        <p:spPr>
          <a:xfrm>
            <a:off x="10018141" y="215656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74D4136-B5EA-117B-131C-B3A30E5FFAE2}"/>
              </a:ext>
            </a:extLst>
          </p:cNvPr>
          <p:cNvSpPr/>
          <p:nvPr/>
        </p:nvSpPr>
        <p:spPr>
          <a:xfrm>
            <a:off x="8706727" y="1880526"/>
            <a:ext cx="1000507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SHARED LEDGER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38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C6D7A-142B-BF30-3BB1-8975A0678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D004A7-7BAA-964F-2C92-A44C8F38478C}"/>
              </a:ext>
            </a:extLst>
          </p:cNvPr>
          <p:cNvSpPr/>
          <p:nvPr/>
        </p:nvSpPr>
        <p:spPr>
          <a:xfrm>
            <a:off x="9351162" y="1798914"/>
            <a:ext cx="2271523" cy="1129028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2C28159-FA8B-CA9A-16A4-BBD32D264A6C}"/>
              </a:ext>
            </a:extLst>
          </p:cNvPr>
          <p:cNvSpPr/>
          <p:nvPr/>
        </p:nvSpPr>
        <p:spPr>
          <a:xfrm>
            <a:off x="3512194" y="1834117"/>
            <a:ext cx="2830362" cy="1498601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528B3A8-D23D-E166-B656-C14B9DFE6234}"/>
              </a:ext>
            </a:extLst>
          </p:cNvPr>
          <p:cNvSpPr/>
          <p:nvPr/>
        </p:nvSpPr>
        <p:spPr>
          <a:xfrm>
            <a:off x="6999989" y="3332718"/>
            <a:ext cx="4784490" cy="1016508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4BA25-A1ED-1663-91B8-26C7E316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3) What crypto changes (and what banks still 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70D6-9896-EA78-2050-0DA137F008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What crypto changes</a:t>
            </a:r>
          </a:p>
          <a:p>
            <a:pPr marL="0" indent="0">
              <a:buNone/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Crypto changes how trust and record‑keeping happen. It can replace certain system roles (shared ledger + rule‑based validation), but banks still provide regulatory responsibilities and customer services.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E500B-27A7-B277-FD0B-1E718136004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One sentence to remember</a:t>
            </a:r>
          </a:p>
          <a:p>
            <a:pPr marL="0" indent="0">
              <a:buNone/>
            </a:pPr>
            <a:r>
              <a:rPr lang="en-HK" sz="105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Crypto is not “a bank.”</a:t>
            </a:r>
            <a:b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It’s a different way to build a trusted record and move value — banks still deliver products, compliance, and protection.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3C9FBA8-61C7-3CC8-1AB5-19AF724004BF}"/>
              </a:ext>
            </a:extLst>
          </p:cNvPr>
          <p:cNvSpPr/>
          <p:nvPr/>
        </p:nvSpPr>
        <p:spPr>
          <a:xfrm>
            <a:off x="469900" y="4543425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E23DB0-E701-F667-EF04-DBF0DAB772A1}"/>
              </a:ext>
            </a:extLst>
          </p:cNvPr>
          <p:cNvSpPr/>
          <p:nvPr/>
        </p:nvSpPr>
        <p:spPr>
          <a:xfrm>
            <a:off x="577850" y="4664075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704DD4-3FB7-EA54-0DD1-F996898BD050}"/>
              </a:ext>
            </a:extLst>
          </p:cNvPr>
          <p:cNvSpPr txBox="1"/>
          <p:nvPr/>
        </p:nvSpPr>
        <p:spPr>
          <a:xfrm>
            <a:off x="1111250" y="4664075"/>
            <a:ext cx="49720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Banks still provide Responsibilities</a:t>
            </a:r>
          </a:p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Regulatory responsibilities and customer services (compliance, onboarding, risk, support) still matter.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F604C56-3696-4AED-1BBD-A03402861B3A}"/>
              </a:ext>
            </a:extLst>
          </p:cNvPr>
          <p:cNvSpPr/>
          <p:nvPr/>
        </p:nvSpPr>
        <p:spPr>
          <a:xfrm>
            <a:off x="469900" y="5527675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FD7162-582B-6300-B127-838735DA37A1}"/>
              </a:ext>
            </a:extLst>
          </p:cNvPr>
          <p:cNvSpPr/>
          <p:nvPr/>
        </p:nvSpPr>
        <p:spPr>
          <a:xfrm>
            <a:off x="577850" y="5648325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3D768-2AC0-41EA-FF5F-564D9E80BBBF}"/>
              </a:ext>
            </a:extLst>
          </p:cNvPr>
          <p:cNvSpPr txBox="1"/>
          <p:nvPr/>
        </p:nvSpPr>
        <p:spPr>
          <a:xfrm>
            <a:off x="1111250" y="5648325"/>
            <a:ext cx="52641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Key takeaway</a:t>
            </a:r>
          </a:p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Crypto can improve shared record‑keeping, but banks still run the controls that make it safe.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EACEA2-9B05-5ABC-C7E0-B2D655771FCC}"/>
              </a:ext>
            </a:extLst>
          </p:cNvPr>
          <p:cNvGrpSpPr/>
          <p:nvPr/>
        </p:nvGrpSpPr>
        <p:grpSpPr>
          <a:xfrm>
            <a:off x="469900" y="3559175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FA93CB6-2CDD-4AFA-604D-E7C3B73833F6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4721E8D-AEC9-5985-BC1C-715A337C3385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BBF2CF-0E11-87EB-0142-FC8343D5532F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Replaces: “who keeps the record” </a:t>
              </a:r>
            </a:p>
            <a:p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Shared</a:t>
              </a:r>
              <a:r>
                <a:rPr lang="en-HK" dirty="0"/>
                <a:t> </a:t>
              </a:r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ledger can become the common record that parties reference.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9F34405D-1EAE-7A20-B5B4-9F211F346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FA4FF5A-7203-A861-45F0-CBBFED35D799}"/>
              </a:ext>
            </a:extLst>
          </p:cNvPr>
          <p:cNvSpPr/>
          <p:nvPr/>
        </p:nvSpPr>
        <p:spPr>
          <a:xfrm>
            <a:off x="7010537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3691D51-D9E7-073B-3B18-FE1F239320A7}"/>
              </a:ext>
            </a:extLst>
          </p:cNvPr>
          <p:cNvSpPr/>
          <p:nvPr/>
        </p:nvSpPr>
        <p:spPr>
          <a:xfrm>
            <a:off x="7135763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TRADITIONAL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4A2B4-7F5B-E559-D88D-32DF5CDD538A}"/>
              </a:ext>
            </a:extLst>
          </p:cNvPr>
          <p:cNvSpPr txBox="1"/>
          <p:nvPr/>
        </p:nvSpPr>
        <p:spPr>
          <a:xfrm>
            <a:off x="7059563" y="2174366"/>
            <a:ext cx="181035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Trust is institutional + reconciled across separate ledgers.</a:t>
            </a:r>
          </a:p>
          <a:p>
            <a:b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HK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BB6ECE-49BE-B445-7BB1-0941F967F68E}"/>
              </a:ext>
            </a:extLst>
          </p:cNvPr>
          <p:cNvSpPr txBox="1"/>
          <p:nvPr/>
        </p:nvSpPr>
        <p:spPr>
          <a:xfrm>
            <a:off x="8993595" y="214829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A246BB-D411-FD7D-48DE-1895B87EAB29}"/>
              </a:ext>
            </a:extLst>
          </p:cNvPr>
          <p:cNvSpPr txBox="1"/>
          <p:nvPr/>
        </p:nvSpPr>
        <p:spPr>
          <a:xfrm>
            <a:off x="7059563" y="3780718"/>
            <a:ext cx="43233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How do shared ledgers validate and synchronize? (blockchain basics, simplified)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61E0C0-075C-FBCF-AE39-CF17B0AEFA8E}"/>
              </a:ext>
            </a:extLst>
          </p:cNvPr>
          <p:cNvSpPr/>
          <p:nvPr/>
        </p:nvSpPr>
        <p:spPr>
          <a:xfrm>
            <a:off x="435531" y="1834118"/>
            <a:ext cx="2970349" cy="1498601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BEE2C-3AA6-C228-97A1-78B812529692}"/>
              </a:ext>
            </a:extLst>
          </p:cNvPr>
          <p:cNvSpPr txBox="1"/>
          <p:nvPr/>
        </p:nvSpPr>
        <p:spPr>
          <a:xfrm>
            <a:off x="495105" y="2237359"/>
            <a:ext cx="252749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Who keeps the record: a shared ledger can become the common reference point.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981D0CC-0100-5957-688F-7DDDE664BC7C}"/>
              </a:ext>
            </a:extLst>
          </p:cNvPr>
          <p:cNvSpPr/>
          <p:nvPr/>
        </p:nvSpPr>
        <p:spPr>
          <a:xfrm>
            <a:off x="3611120" y="1952734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DOES NOT REPLACE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51D01A-223E-21F4-992E-FB3416D77857}"/>
              </a:ext>
            </a:extLst>
          </p:cNvPr>
          <p:cNvSpPr txBox="1"/>
          <p:nvPr/>
        </p:nvSpPr>
        <p:spPr>
          <a:xfrm>
            <a:off x="3588787" y="2259674"/>
            <a:ext cx="252749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Compliance, risk management, customer onboarding, product design, legal accountability.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B19703B-0FB4-6EDC-76C5-E5E936742F01}"/>
              </a:ext>
            </a:extLst>
          </p:cNvPr>
          <p:cNvSpPr/>
          <p:nvPr/>
        </p:nvSpPr>
        <p:spPr>
          <a:xfrm>
            <a:off x="569315" y="1980797"/>
            <a:ext cx="1000507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REPLACE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7D33C74C-B502-84E0-C68E-B4C6260A2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682" y="4682075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760ED6CC-A2B9-C2D5-0780-1C5BE0C3CD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466" y="3715825"/>
            <a:ext cx="324000" cy="324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FEC249B-6C81-7B80-58B8-F012648F2E86}"/>
              </a:ext>
            </a:extLst>
          </p:cNvPr>
          <p:cNvSpPr txBox="1"/>
          <p:nvPr/>
        </p:nvSpPr>
        <p:spPr>
          <a:xfrm>
            <a:off x="9495245" y="2178592"/>
            <a:ext cx="212744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Trust is rules + validation on a shared record (plus bank controls around it).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735CA520-F9C7-4CB7-E4F8-E468D3A8F54A}"/>
              </a:ext>
            </a:extLst>
          </p:cNvPr>
          <p:cNvSpPr/>
          <p:nvPr/>
        </p:nvSpPr>
        <p:spPr>
          <a:xfrm>
            <a:off x="9460192" y="1889527"/>
            <a:ext cx="1000507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CRYPTO-STYLE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A48972-7935-504F-2BB0-DFA4BF29F5C3}"/>
              </a:ext>
            </a:extLst>
          </p:cNvPr>
          <p:cNvSpPr/>
          <p:nvPr/>
        </p:nvSpPr>
        <p:spPr>
          <a:xfrm>
            <a:off x="7135762" y="3484784"/>
            <a:ext cx="1276717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NEXT SLIDE LATER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912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C08E-1548-4849-C9D6-AE12F28F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2064E4-AD7F-9938-D25F-4CEE85E27FD0}"/>
              </a:ext>
            </a:extLst>
          </p:cNvPr>
          <p:cNvSpPr/>
          <p:nvPr/>
        </p:nvSpPr>
        <p:spPr>
          <a:xfrm>
            <a:off x="7010537" y="3046050"/>
            <a:ext cx="4547479" cy="1259729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B7244-FD87-2B20-BD6D-3837034D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4) What is a blockchain?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85E8-E3A3-F4DE-A2D9-18A0330E7B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Blockchain = a shared notebook that’s hard to edit.</a:t>
            </a:r>
          </a:p>
          <a:p>
            <a:pPr marL="0" indent="0">
              <a:buNone/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Think of it like pages in a notebook. Each page “locks” the page before it.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9D42E-91F5-7770-8611-A5E0B5649E6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Block → Block → Block</a:t>
            </a:r>
          </a:p>
          <a:p>
            <a:pPr marL="0" indent="0">
              <a:buNone/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very simplified view (not real cryptography details).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343EB7-4FAB-155D-C266-711DC00023DB}"/>
              </a:ext>
            </a:extLst>
          </p:cNvPr>
          <p:cNvSpPr/>
          <p:nvPr/>
        </p:nvSpPr>
        <p:spPr>
          <a:xfrm>
            <a:off x="404006" y="2565400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DD7247-03E2-8E5B-509D-69A9410649E6}"/>
              </a:ext>
            </a:extLst>
          </p:cNvPr>
          <p:cNvSpPr/>
          <p:nvPr/>
        </p:nvSpPr>
        <p:spPr>
          <a:xfrm>
            <a:off x="511956" y="2686050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08F1D8-5FED-0D27-6C3A-A11FBB106E1F}"/>
              </a:ext>
            </a:extLst>
          </p:cNvPr>
          <p:cNvSpPr txBox="1"/>
          <p:nvPr/>
        </p:nvSpPr>
        <p:spPr>
          <a:xfrm>
            <a:off x="1045356" y="2686050"/>
            <a:ext cx="4972050" cy="55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Chain = pages linked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Each block points to the previous block, so the order is fixed.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F999D82-3D33-931E-5224-7F21A93125BD}"/>
              </a:ext>
            </a:extLst>
          </p:cNvPr>
          <p:cNvSpPr/>
          <p:nvPr/>
        </p:nvSpPr>
        <p:spPr>
          <a:xfrm>
            <a:off x="404006" y="3549650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F49193-EBDE-2F34-2C6F-D8695CBB9391}"/>
              </a:ext>
            </a:extLst>
          </p:cNvPr>
          <p:cNvSpPr/>
          <p:nvPr/>
        </p:nvSpPr>
        <p:spPr>
          <a:xfrm>
            <a:off x="511956" y="3670300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C187B-1637-9E5B-AD84-2C76B45982CD}"/>
              </a:ext>
            </a:extLst>
          </p:cNvPr>
          <p:cNvSpPr txBox="1"/>
          <p:nvPr/>
        </p:nvSpPr>
        <p:spPr>
          <a:xfrm>
            <a:off x="1045356" y="3670300"/>
            <a:ext cx="5264150" cy="55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Hard to change history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If you change an old block, it breaks the links to every block after it.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BF07E54-3894-0925-F20F-BC551E0E8CEB}"/>
              </a:ext>
            </a:extLst>
          </p:cNvPr>
          <p:cNvGrpSpPr/>
          <p:nvPr/>
        </p:nvGrpSpPr>
        <p:grpSpPr>
          <a:xfrm>
            <a:off x="404006" y="1581150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1EDCDB3-9BBB-F9EF-FB70-AE38536AA5B7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B7DF7C-836E-7091-0E59-55816E434ED6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FDE274-B370-07C6-D0AE-FF86C4946094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551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Block = a page</a:t>
              </a:r>
            </a:p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It contains a list of transactions (who sent what to whom).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25504768-F37C-2C40-4959-062D1B0C3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13F90C7-F238-A436-31D3-0C32324DBA40}"/>
              </a:ext>
            </a:extLst>
          </p:cNvPr>
          <p:cNvSpPr/>
          <p:nvPr/>
        </p:nvSpPr>
        <p:spPr>
          <a:xfrm>
            <a:off x="7010537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4637318-638D-48D2-0F6C-C27EA4447F03}"/>
              </a:ext>
            </a:extLst>
          </p:cNvPr>
          <p:cNvSpPr/>
          <p:nvPr/>
        </p:nvSpPr>
        <p:spPr>
          <a:xfrm>
            <a:off x="7135763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BLOCK 101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637A08-9769-20AD-EAD7-DF7609EED7D9}"/>
              </a:ext>
            </a:extLst>
          </p:cNvPr>
          <p:cNvSpPr txBox="1"/>
          <p:nvPr/>
        </p:nvSpPr>
        <p:spPr>
          <a:xfrm>
            <a:off x="7059563" y="2174366"/>
            <a:ext cx="181035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Transactions + “fingerprint”(hash) of Block 100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4BE959-CD95-AA74-E528-805B2460770B}"/>
              </a:ext>
            </a:extLst>
          </p:cNvPr>
          <p:cNvSpPr txBox="1"/>
          <p:nvPr/>
        </p:nvSpPr>
        <p:spPr>
          <a:xfrm>
            <a:off x="8993595" y="214829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7FEE4E-8A5A-4949-59D4-BA1EEA3A680D}"/>
              </a:ext>
            </a:extLst>
          </p:cNvPr>
          <p:cNvSpPr txBox="1"/>
          <p:nvPr/>
        </p:nvSpPr>
        <p:spPr>
          <a:xfrm>
            <a:off x="7059563" y="3467893"/>
            <a:ext cx="43233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Everyone can check if someone tried to change an old record.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21FF1470-8461-036B-3E50-6F21225CC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8" y="2704050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6F9DC7DF-AC96-771A-C358-2E59CE8F7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572" y="1737800"/>
            <a:ext cx="324000" cy="324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E4C443D-00B1-CA15-F320-D7155FD2AF23}"/>
              </a:ext>
            </a:extLst>
          </p:cNvPr>
          <p:cNvSpPr/>
          <p:nvPr/>
        </p:nvSpPr>
        <p:spPr>
          <a:xfrm>
            <a:off x="7146687" y="3197407"/>
            <a:ext cx="1003300" cy="234951"/>
          </a:xfrm>
          <a:prstGeom prst="roundRect">
            <a:avLst>
              <a:gd name="adj" fmla="val 50000"/>
            </a:avLst>
          </a:prstGeom>
          <a:solidFill>
            <a:srgbClr val="FFC000">
              <a:alpha val="40572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WHY IT MATTERS</a:t>
            </a:r>
            <a:endParaRPr lang="en-US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E685D2F-8C89-F898-F2BE-D9D5C086CECA}"/>
              </a:ext>
            </a:extLst>
          </p:cNvPr>
          <p:cNvSpPr/>
          <p:nvPr/>
        </p:nvSpPr>
        <p:spPr>
          <a:xfrm>
            <a:off x="9444564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1447608-DD7F-CC1F-8766-2D31DAFB9795}"/>
              </a:ext>
            </a:extLst>
          </p:cNvPr>
          <p:cNvSpPr/>
          <p:nvPr/>
        </p:nvSpPr>
        <p:spPr>
          <a:xfrm>
            <a:off x="9569790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BLOCK 102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7E0A0-2AA7-8566-E164-A090575B43AB}"/>
              </a:ext>
            </a:extLst>
          </p:cNvPr>
          <p:cNvSpPr txBox="1"/>
          <p:nvPr/>
        </p:nvSpPr>
        <p:spPr>
          <a:xfrm>
            <a:off x="9493590" y="2174366"/>
            <a:ext cx="181035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Transactions + “fingerprint”(hash) of Block 100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8F1AD-467A-283D-D22E-291C9086DF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" y="4533900"/>
            <a:ext cx="3394253" cy="203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3643-AB69-7273-38BD-25AAF71DC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2E9FA8-1CB9-E458-A124-371A6247149D}"/>
              </a:ext>
            </a:extLst>
          </p:cNvPr>
          <p:cNvSpPr/>
          <p:nvPr/>
        </p:nvSpPr>
        <p:spPr>
          <a:xfrm>
            <a:off x="7010536" y="5496990"/>
            <a:ext cx="4417085" cy="912565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1A31B-F471-D979-EFD6-D4954990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5) Smart contracts: “rules that run” on the shared ledger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825E-986C-4360-ACE1-0EA39E3EF5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What is a smart contract?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A smart contract is shared business logic that runs on a blockchain.</a:t>
            </a:r>
            <a:b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</a:b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Instead of one party enforcing rules, the network enforces the same rules for everyone.</a:t>
            </a: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endParaRPr lang="en-HK" sz="1200" dirty="0">
              <a:solidFill>
                <a:schemeClr val="tx2">
                  <a:lumMod val="50000"/>
                  <a:lumOff val="50000"/>
                </a:schemeClr>
              </a:solidFill>
              <a:latin typeface="Aptos" panose="02110004020202020204"/>
            </a:endParaRPr>
          </a:p>
          <a:p>
            <a:pPr marL="0" indent="0">
              <a:buNone/>
            </a:pPr>
            <a:r>
              <a:rPr lang="en-HK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Open-ended question: </a:t>
            </a: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If some rules become “code on a shared ledger,” which bank processes could be safer or faster — and which should remain off-chain?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1F044-2B01-99CE-F6BD-A6A7A9D8590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Example smart contract functions (bank-friendly)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These are examples of what “rules that run” can do.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87C34D8-2E8F-DDF5-1D46-44D22236A85F}"/>
              </a:ext>
            </a:extLst>
          </p:cNvPr>
          <p:cNvSpPr/>
          <p:nvPr/>
        </p:nvSpPr>
        <p:spPr>
          <a:xfrm>
            <a:off x="377968" y="2703870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0739E4-F704-8C22-D30A-8A47FAEB5907}"/>
              </a:ext>
            </a:extLst>
          </p:cNvPr>
          <p:cNvSpPr/>
          <p:nvPr/>
        </p:nvSpPr>
        <p:spPr>
          <a:xfrm>
            <a:off x="485918" y="2824520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FF16F1-7582-065B-A1A1-E26103CB179C}"/>
              </a:ext>
            </a:extLst>
          </p:cNvPr>
          <p:cNvSpPr txBox="1"/>
          <p:nvPr/>
        </p:nvSpPr>
        <p:spPr>
          <a:xfrm>
            <a:off x="1019318" y="2824520"/>
            <a:ext cx="4972050" cy="67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200" b="1" dirty="0"/>
              <a:t>How it works (high-level)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Users submit transactions → contract checks rules → updates shared ledger state (approved / rejected).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B377ED4-E1ED-456F-C48E-3804E6BE01AC}"/>
              </a:ext>
            </a:extLst>
          </p:cNvPr>
          <p:cNvGrpSpPr/>
          <p:nvPr/>
        </p:nvGrpSpPr>
        <p:grpSpPr>
          <a:xfrm>
            <a:off x="377968" y="1719620"/>
            <a:ext cx="5949950" cy="863600"/>
            <a:chOff x="438150" y="2082800"/>
            <a:chExt cx="5949950" cy="8636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0CE9241-E413-C1F5-9E38-3E071507DDB6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FF488F-02AE-6FF6-8C46-3DA226B59E5E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D0E2BD-7467-B4A5-3E64-C271C9DDAAB8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678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HK" sz="1200" b="1" dirty="0"/>
                <a:t>Analogy: “vending machine rules”</a:t>
              </a:r>
            </a:p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Put in $2 + choose item → machine releases item automatically. No clerk needed to interpret rules.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ED42E3D-5AD7-C17A-EAF8-D93BB8B2C4AD}"/>
              </a:ext>
            </a:extLst>
          </p:cNvPr>
          <p:cNvSpPr/>
          <p:nvPr/>
        </p:nvSpPr>
        <p:spPr>
          <a:xfrm>
            <a:off x="7010537" y="1787927"/>
            <a:ext cx="2177354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73CD40-2547-64C4-D4CC-7DB585C47426}"/>
              </a:ext>
            </a:extLst>
          </p:cNvPr>
          <p:cNvSpPr txBox="1"/>
          <p:nvPr/>
        </p:nvSpPr>
        <p:spPr>
          <a:xfrm>
            <a:off x="7059563" y="2174366"/>
            <a:ext cx="2110962" cy="529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Only allow transfers to approved counterparties (addresses/participants).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89A3AD-55E3-4026-E278-95DBEC07610D}"/>
              </a:ext>
            </a:extLst>
          </p:cNvPr>
          <p:cNvSpPr txBox="1"/>
          <p:nvPr/>
        </p:nvSpPr>
        <p:spPr>
          <a:xfrm>
            <a:off x="7108590" y="5828244"/>
            <a:ext cx="4323324" cy="803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Smart contracts = shared rules that automate decisions on the shared ledger.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b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HK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7855BFD7-0010-DE5A-1F83-5836C3698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750" y="2842520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08EF1514-5968-2018-A091-F4C441F83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534" y="1876270"/>
            <a:ext cx="324000" cy="32400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8695631-5620-76C2-ED11-5FAD00240E0D}"/>
              </a:ext>
            </a:extLst>
          </p:cNvPr>
          <p:cNvSpPr/>
          <p:nvPr/>
        </p:nvSpPr>
        <p:spPr>
          <a:xfrm>
            <a:off x="9294205" y="1787927"/>
            <a:ext cx="2133417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4709D4-B20F-B78F-1340-74BA00301FD3}"/>
              </a:ext>
            </a:extLst>
          </p:cNvPr>
          <p:cNvSpPr txBox="1"/>
          <p:nvPr/>
        </p:nvSpPr>
        <p:spPr>
          <a:xfrm>
            <a:off x="9400032" y="2174366"/>
            <a:ext cx="1903910" cy="529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Enforce transaction limits; require extra approval above threshold.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829E52-6C0C-B974-CAB6-49AB6AF8FD0A}"/>
              </a:ext>
            </a:extLst>
          </p:cNvPr>
          <p:cNvSpPr/>
          <p:nvPr/>
        </p:nvSpPr>
        <p:spPr>
          <a:xfrm>
            <a:off x="7010537" y="4181745"/>
            <a:ext cx="4417085" cy="1232566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F1CC69-E7DA-2CEA-43AA-88E2B0CEEA2D}"/>
              </a:ext>
            </a:extLst>
          </p:cNvPr>
          <p:cNvSpPr txBox="1"/>
          <p:nvPr/>
        </p:nvSpPr>
        <p:spPr>
          <a:xfrm>
            <a:off x="7059564" y="4637659"/>
            <a:ext cx="4323324" cy="38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IF receiver is allowlisted AND amount &lt;= limit AND approvals &gt;= required THEN transfer &amp; mark confirmed ELSE reject (no ledger update)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98133F0-018D-EE70-12D3-5526505C67C3}"/>
              </a:ext>
            </a:extLst>
          </p:cNvPr>
          <p:cNvSpPr/>
          <p:nvPr/>
        </p:nvSpPr>
        <p:spPr>
          <a:xfrm>
            <a:off x="7135762" y="4327429"/>
            <a:ext cx="1298664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TINY PESUDO LOGIC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B6A86DC-4DBB-3C42-8E78-C1B52DB5947B}"/>
              </a:ext>
            </a:extLst>
          </p:cNvPr>
          <p:cNvSpPr/>
          <p:nvPr/>
        </p:nvSpPr>
        <p:spPr>
          <a:xfrm>
            <a:off x="7010536" y="2977868"/>
            <a:ext cx="2177354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3F1BEF7-F2E0-A57F-3427-890EFA172278}"/>
              </a:ext>
            </a:extLst>
          </p:cNvPr>
          <p:cNvSpPr/>
          <p:nvPr/>
        </p:nvSpPr>
        <p:spPr>
          <a:xfrm>
            <a:off x="7135762" y="5605667"/>
            <a:ext cx="1240141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TAKEAWAY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0BC493-A147-3A1F-7948-A14127649673}"/>
              </a:ext>
            </a:extLst>
          </p:cNvPr>
          <p:cNvSpPr txBox="1"/>
          <p:nvPr/>
        </p:nvSpPr>
        <p:spPr>
          <a:xfrm>
            <a:off x="7059562" y="3364307"/>
            <a:ext cx="2110962" cy="529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Create/destroy tokens only when specific conditions are met (e.g., backed by deposit/liability rules).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47663F-A572-B159-21C2-A8A11AA89546}"/>
              </a:ext>
            </a:extLst>
          </p:cNvPr>
          <p:cNvSpPr/>
          <p:nvPr/>
        </p:nvSpPr>
        <p:spPr>
          <a:xfrm>
            <a:off x="9294204" y="2977868"/>
            <a:ext cx="2133417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E15E35-28CF-BF1C-EBE3-33A52A3EC47E}"/>
              </a:ext>
            </a:extLst>
          </p:cNvPr>
          <p:cNvSpPr txBox="1"/>
          <p:nvPr/>
        </p:nvSpPr>
        <p:spPr>
          <a:xfrm>
            <a:off x="9400031" y="3364307"/>
            <a:ext cx="1903910" cy="948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“Either both sides happen, or neither happens” (reduce settlement risk).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b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HK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8A60ACB-B0D9-C4F0-447B-62B051A53141}"/>
              </a:ext>
            </a:extLst>
          </p:cNvPr>
          <p:cNvSpPr/>
          <p:nvPr/>
        </p:nvSpPr>
        <p:spPr>
          <a:xfrm>
            <a:off x="7108591" y="1857597"/>
            <a:ext cx="1208792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1) Allowlist transfers</a:t>
            </a:r>
            <a:endParaRPr lang="en-US" sz="7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087941F-3C51-E9FC-D4F0-C7CA12DB145A}"/>
              </a:ext>
            </a:extLst>
          </p:cNvPr>
          <p:cNvSpPr/>
          <p:nvPr/>
        </p:nvSpPr>
        <p:spPr>
          <a:xfrm>
            <a:off x="8375903" y="1859616"/>
            <a:ext cx="731521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POLICY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34E5E0A-CFDA-C0DA-1B8F-AE19A54F4403}"/>
              </a:ext>
            </a:extLst>
          </p:cNvPr>
          <p:cNvSpPr/>
          <p:nvPr/>
        </p:nvSpPr>
        <p:spPr>
          <a:xfrm>
            <a:off x="9384055" y="1850596"/>
            <a:ext cx="1208792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2) Limits &amp; approvals</a:t>
            </a:r>
            <a:endParaRPr lang="en-US" sz="7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1F19B2B-E1AD-DD41-BC85-0160E24A1BCE}"/>
              </a:ext>
            </a:extLst>
          </p:cNvPr>
          <p:cNvSpPr/>
          <p:nvPr/>
        </p:nvSpPr>
        <p:spPr>
          <a:xfrm>
            <a:off x="10651367" y="1852615"/>
            <a:ext cx="731521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CONTROLS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5661E87-1D12-F8E8-2DAE-F64DD5F31518}"/>
              </a:ext>
            </a:extLst>
          </p:cNvPr>
          <p:cNvSpPr/>
          <p:nvPr/>
        </p:nvSpPr>
        <p:spPr>
          <a:xfrm>
            <a:off x="7066876" y="3064753"/>
            <a:ext cx="1208792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3) Mint / burn rules</a:t>
            </a:r>
            <a:endParaRPr lang="en-US" sz="7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BB3F3A1-DE70-4CA2-0B9E-94E0089A88B4}"/>
              </a:ext>
            </a:extLst>
          </p:cNvPr>
          <p:cNvSpPr/>
          <p:nvPr/>
        </p:nvSpPr>
        <p:spPr>
          <a:xfrm>
            <a:off x="8334188" y="3066772"/>
            <a:ext cx="731521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SUPPLY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CE347EF-3CC8-065D-2A64-1638E5B0A3D1}"/>
              </a:ext>
            </a:extLst>
          </p:cNvPr>
          <p:cNvSpPr/>
          <p:nvPr/>
        </p:nvSpPr>
        <p:spPr>
          <a:xfrm>
            <a:off x="9371206" y="3064753"/>
            <a:ext cx="1208792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4) Escrow &amp; atomic swap</a:t>
            </a:r>
            <a:endParaRPr lang="en-US" sz="7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F665574-408E-2CFE-A3C1-5CCF4B1C81CC}"/>
              </a:ext>
            </a:extLst>
          </p:cNvPr>
          <p:cNvSpPr/>
          <p:nvPr/>
        </p:nvSpPr>
        <p:spPr>
          <a:xfrm>
            <a:off x="10622106" y="3073732"/>
            <a:ext cx="790041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SETTLEMENT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32BFA70-33CF-2D10-C02B-3C44A51FD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500" y="3624840"/>
            <a:ext cx="3624644" cy="240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1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DFBBB-7850-892F-DA52-310B8F8E5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5E83F6-38DC-183C-F8EC-B0FCEEC17461}"/>
              </a:ext>
            </a:extLst>
          </p:cNvPr>
          <p:cNvSpPr/>
          <p:nvPr/>
        </p:nvSpPr>
        <p:spPr>
          <a:xfrm>
            <a:off x="7010536" y="3324804"/>
            <a:ext cx="4417085" cy="1232566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5766B-2EE7-867C-BCAB-4812EBC4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6) Introducing a blockchain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0F0F7-3C71-7719-F73A-BA6F4FCB33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A network is “many computers agreeing on the same notebook.”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Instead of one server updating the ledger, many nodes verify and share updates.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56B34-2F00-0574-10C7-6637D25B416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What happens when you send?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Simple flow: create → broadcast → validate → confirm.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3714D9E-6FA6-E776-AE6C-231C0FDF1719}"/>
              </a:ext>
            </a:extLst>
          </p:cNvPr>
          <p:cNvSpPr/>
          <p:nvPr/>
        </p:nvSpPr>
        <p:spPr>
          <a:xfrm>
            <a:off x="407779" y="2769428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15DA5A-7649-A910-D376-779588C56B4E}"/>
              </a:ext>
            </a:extLst>
          </p:cNvPr>
          <p:cNvSpPr/>
          <p:nvPr/>
        </p:nvSpPr>
        <p:spPr>
          <a:xfrm>
            <a:off x="515729" y="2890078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F567F3-6B95-CFE5-1563-842E9EEB4D8E}"/>
              </a:ext>
            </a:extLst>
          </p:cNvPr>
          <p:cNvSpPr txBox="1"/>
          <p:nvPr/>
        </p:nvSpPr>
        <p:spPr>
          <a:xfrm>
            <a:off x="1049129" y="2890078"/>
            <a:ext cx="4972050" cy="1104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Consensus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Rules for how the network decides what is “true” and what gets added next.</a:t>
            </a:r>
          </a:p>
          <a:p>
            <a:br>
              <a:rPr lang="en-HK" dirty="0"/>
            </a:br>
            <a:endParaRPr lang="en-HK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B44ED0-915C-D2FA-E7F6-5D9D8AFBAE5D}"/>
              </a:ext>
            </a:extLst>
          </p:cNvPr>
          <p:cNvSpPr/>
          <p:nvPr/>
        </p:nvSpPr>
        <p:spPr>
          <a:xfrm>
            <a:off x="407779" y="3753678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E0C7C21-DD4A-7311-3812-57BD626FE6DE}"/>
              </a:ext>
            </a:extLst>
          </p:cNvPr>
          <p:cNvSpPr/>
          <p:nvPr/>
        </p:nvSpPr>
        <p:spPr>
          <a:xfrm>
            <a:off x="515729" y="3874328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B4581D-BF8D-A6BA-DA00-AAE928C8E8AB}"/>
              </a:ext>
            </a:extLst>
          </p:cNvPr>
          <p:cNvSpPr txBox="1"/>
          <p:nvPr/>
        </p:nvSpPr>
        <p:spPr>
          <a:xfrm>
            <a:off x="1049129" y="3874328"/>
            <a:ext cx="5264150" cy="696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Finality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When the network considers a transaction “done” (no take-backs) Can only be reversed by reverse transaction, not update.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0FF0CD3-F612-53D9-F416-7696C08FE668}"/>
              </a:ext>
            </a:extLst>
          </p:cNvPr>
          <p:cNvGrpSpPr/>
          <p:nvPr/>
        </p:nvGrpSpPr>
        <p:grpSpPr>
          <a:xfrm>
            <a:off x="407779" y="1785178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DFDB853-A9A9-070E-2F61-A95AC854D1A4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5BDAFF5-6CA7-AFED-1D2C-C31B67A0F769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FE0B1F-409A-470F-79DC-457B3AD1DA02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1104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Nodes</a:t>
              </a:r>
            </a:p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Computers that keep a copy of the blockchain and check transactions.</a:t>
              </a:r>
            </a:p>
            <a:p>
              <a:br>
                <a:rPr lang="en-HK" dirty="0"/>
              </a:br>
              <a:endParaRPr lang="en-HK" dirty="0"/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8191E990-EF3C-9462-CB88-A7EB90F1E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3BFF40D-FE06-5A2E-FE0D-8DEE8D593CB9}"/>
              </a:ext>
            </a:extLst>
          </p:cNvPr>
          <p:cNvSpPr/>
          <p:nvPr/>
        </p:nvSpPr>
        <p:spPr>
          <a:xfrm>
            <a:off x="7010537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C591569-545F-5C91-BBD5-E5E5FF0CD801}"/>
              </a:ext>
            </a:extLst>
          </p:cNvPr>
          <p:cNvSpPr/>
          <p:nvPr/>
        </p:nvSpPr>
        <p:spPr>
          <a:xfrm>
            <a:off x="7135762" y="1889527"/>
            <a:ext cx="1240141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YOU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AE7576-7DC4-7D3F-3EF3-ACAA3EFECE4B}"/>
              </a:ext>
            </a:extLst>
          </p:cNvPr>
          <p:cNvSpPr txBox="1"/>
          <p:nvPr/>
        </p:nvSpPr>
        <p:spPr>
          <a:xfrm>
            <a:off x="7059563" y="2174366"/>
            <a:ext cx="1810352" cy="38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“Send $ 10 to Alex” (a transaction request).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39D2E2-A342-88F1-A82D-AFAFF39392D6}"/>
              </a:ext>
            </a:extLst>
          </p:cNvPr>
          <p:cNvSpPr txBox="1"/>
          <p:nvPr/>
        </p:nvSpPr>
        <p:spPr>
          <a:xfrm>
            <a:off x="8993595" y="214829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6ABC07-BFBD-2EAC-613F-2B44B303E02F}"/>
              </a:ext>
            </a:extLst>
          </p:cNvPr>
          <p:cNvSpPr txBox="1"/>
          <p:nvPr/>
        </p:nvSpPr>
        <p:spPr>
          <a:xfrm>
            <a:off x="7059563" y="3780718"/>
            <a:ext cx="4323324" cy="238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Everyone’s copy updates to the same state.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CAE47145-C1F8-4C11-AD79-C2CE45BC1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61" y="2908078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180D822C-ADE1-9D5E-FB7E-CA55FCB6CE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345" y="1941828"/>
            <a:ext cx="324000" cy="32400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047ADF2-1916-145C-DF32-FBEB9738577F}"/>
              </a:ext>
            </a:extLst>
          </p:cNvPr>
          <p:cNvSpPr/>
          <p:nvPr/>
        </p:nvSpPr>
        <p:spPr>
          <a:xfrm>
            <a:off x="9444564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46D7F1-CCE1-E3F2-6ABF-C8C222B9A74E}"/>
              </a:ext>
            </a:extLst>
          </p:cNvPr>
          <p:cNvSpPr txBox="1"/>
          <p:nvPr/>
        </p:nvSpPr>
        <p:spPr>
          <a:xfrm>
            <a:off x="9493590" y="2174366"/>
            <a:ext cx="1810352" cy="38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Nodes check rules, then add it into a new block.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75BFC1-94F6-76F3-8CBB-771D70E65040}"/>
              </a:ext>
            </a:extLst>
          </p:cNvPr>
          <p:cNvSpPr/>
          <p:nvPr/>
        </p:nvSpPr>
        <p:spPr>
          <a:xfrm>
            <a:off x="9500905" y="1880526"/>
            <a:ext cx="1380223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NETWORK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311F0E-85F8-9526-1F3A-91B892FB231A}"/>
              </a:ext>
            </a:extLst>
          </p:cNvPr>
          <p:cNvSpPr/>
          <p:nvPr/>
        </p:nvSpPr>
        <p:spPr>
          <a:xfrm>
            <a:off x="7146687" y="3510232"/>
            <a:ext cx="1003300" cy="234951"/>
          </a:xfrm>
          <a:prstGeom prst="roundRect">
            <a:avLst>
              <a:gd name="adj" fmla="val 50000"/>
            </a:avLst>
          </a:prstGeom>
          <a:solidFill>
            <a:srgbClr val="FFC000">
              <a:alpha val="40572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RESULT</a:t>
            </a:r>
            <a:endParaRPr lang="en-US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6FB9C-B286-B690-10A6-83F56B4B37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7002" y="4691964"/>
            <a:ext cx="2314248" cy="185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5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89B4-86D4-7C07-A1E2-CA43D72D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90FE6B-51B1-BCAD-EED1-A90768AF2F94}"/>
              </a:ext>
            </a:extLst>
          </p:cNvPr>
          <p:cNvSpPr/>
          <p:nvPr/>
        </p:nvSpPr>
        <p:spPr>
          <a:xfrm>
            <a:off x="7019573" y="3047418"/>
            <a:ext cx="4417085" cy="1232566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2985C-B025-4802-572F-404B2141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7) Two network models: Public vs Private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F37DC-EFDE-7713-7B13-E1C0861295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Same idea (shared record), different rules (who can join).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Public = open to anyone. Private = only approved members.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92140-448B-75AE-8479-0E41D4382D9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Quick comparison</a:t>
            </a:r>
          </a:p>
          <a:p>
            <a:pPr marL="0" indent="0">
              <a:buNone/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Not “better or worse” — just different trade-offs.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8F9842-222C-4475-7EDB-BFE97A0937E5}"/>
              </a:ext>
            </a:extLst>
          </p:cNvPr>
          <p:cNvSpPr/>
          <p:nvPr/>
        </p:nvSpPr>
        <p:spPr>
          <a:xfrm>
            <a:off x="373824" y="2585864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CE833B-0460-1FFA-E8DE-F99DB51E2083}"/>
              </a:ext>
            </a:extLst>
          </p:cNvPr>
          <p:cNvSpPr/>
          <p:nvPr/>
        </p:nvSpPr>
        <p:spPr>
          <a:xfrm>
            <a:off x="481774" y="2706514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42740A-F668-07E3-A24A-4AB28835804B}"/>
              </a:ext>
            </a:extLst>
          </p:cNvPr>
          <p:cNvSpPr txBox="1"/>
          <p:nvPr/>
        </p:nvSpPr>
        <p:spPr>
          <a:xfrm>
            <a:off x="1015174" y="2706514"/>
            <a:ext cx="4972050" cy="55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Private networks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Only known members can join. Better privacy and governance.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C7A04D-791D-AD8F-C1D5-4FC203A46998}"/>
              </a:ext>
            </a:extLst>
          </p:cNvPr>
          <p:cNvSpPr/>
          <p:nvPr/>
        </p:nvSpPr>
        <p:spPr>
          <a:xfrm>
            <a:off x="373824" y="3570114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71CA1F-65C0-CE07-75A0-12A3C1263EAB}"/>
              </a:ext>
            </a:extLst>
          </p:cNvPr>
          <p:cNvSpPr/>
          <p:nvPr/>
        </p:nvSpPr>
        <p:spPr>
          <a:xfrm>
            <a:off x="481774" y="3690764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7647B-07F5-2E08-92F8-8BA0FE9A6A95}"/>
              </a:ext>
            </a:extLst>
          </p:cNvPr>
          <p:cNvSpPr txBox="1"/>
          <p:nvPr/>
        </p:nvSpPr>
        <p:spPr>
          <a:xfrm>
            <a:off x="1015174" y="3690764"/>
            <a:ext cx="5264150" cy="696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Bank-friendly question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Do we need openness, or do we need controlled membership + privacy?</a:t>
            </a:r>
            <a:b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FYR: JPM </a:t>
            </a:r>
            <a:r>
              <a:rPr lang="en-HK" sz="105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Kinexys</a:t>
            </a: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is on private network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AC8F9E8-B14C-6DD6-9B75-F8F9C73865DA}"/>
              </a:ext>
            </a:extLst>
          </p:cNvPr>
          <p:cNvGrpSpPr/>
          <p:nvPr/>
        </p:nvGrpSpPr>
        <p:grpSpPr>
          <a:xfrm>
            <a:off x="373824" y="1601614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5F38B5E-530A-FCE1-9610-445BAEEC8AC0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237291-582F-CF49-0DB9-111D599E3AFE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8F705F-3100-8455-AA4E-C3421C349154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551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Public networks</a:t>
              </a:r>
            </a:p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Anyone can use it and run nodes. Very transparent.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EBF21A61-23D3-F947-686A-80AC190D0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6906760-4C36-0063-E41E-6EC0417BF8F6}"/>
              </a:ext>
            </a:extLst>
          </p:cNvPr>
          <p:cNvSpPr/>
          <p:nvPr/>
        </p:nvSpPr>
        <p:spPr>
          <a:xfrm>
            <a:off x="7010537" y="1787927"/>
            <a:ext cx="2177354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58D82B-ABC1-7DEA-252F-7BF7DD95889C}"/>
              </a:ext>
            </a:extLst>
          </p:cNvPr>
          <p:cNvSpPr/>
          <p:nvPr/>
        </p:nvSpPr>
        <p:spPr>
          <a:xfrm>
            <a:off x="7135762" y="1889527"/>
            <a:ext cx="1240141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PUBLIC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FB1BA9-7647-5E04-D1AE-96608F69CB22}"/>
              </a:ext>
            </a:extLst>
          </p:cNvPr>
          <p:cNvSpPr txBox="1"/>
          <p:nvPr/>
        </p:nvSpPr>
        <p:spPr>
          <a:xfrm>
            <a:off x="7059563" y="2174366"/>
            <a:ext cx="2110962" cy="38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Open access • transparent</a:t>
            </a:r>
            <a:b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Fees can change • global reach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E74998-BD3E-7DD5-6B13-DDC1816ECA5C}"/>
              </a:ext>
            </a:extLst>
          </p:cNvPr>
          <p:cNvSpPr txBox="1"/>
          <p:nvPr/>
        </p:nvSpPr>
        <p:spPr>
          <a:xfrm>
            <a:off x="7068600" y="3503332"/>
            <a:ext cx="4323324" cy="38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Banks usually want strong identity, controls, and audit — so private/permissioned models are common.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1E71E7CC-4532-0F35-2426-1EC5F6341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606" y="2724514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2365AACC-AD84-6D52-1F5A-D3930B15E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390" y="1758264"/>
            <a:ext cx="324000" cy="32400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81E75CE-2E43-98CA-EF06-59A1461E5624}"/>
              </a:ext>
            </a:extLst>
          </p:cNvPr>
          <p:cNvSpPr/>
          <p:nvPr/>
        </p:nvSpPr>
        <p:spPr>
          <a:xfrm>
            <a:off x="9294205" y="1787927"/>
            <a:ext cx="2133417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DDF063-E6FC-1A94-6C00-6E1D36008E7F}"/>
              </a:ext>
            </a:extLst>
          </p:cNvPr>
          <p:cNvSpPr txBox="1"/>
          <p:nvPr/>
        </p:nvSpPr>
        <p:spPr>
          <a:xfrm>
            <a:off x="9400032" y="2174366"/>
            <a:ext cx="1903910" cy="674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Member-only • privacy controls</a:t>
            </a:r>
            <a:b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Governed rules • faster finality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93C229-0CEF-8F0D-8255-A0DD1F2AE820}"/>
              </a:ext>
            </a:extLst>
          </p:cNvPr>
          <p:cNvSpPr/>
          <p:nvPr/>
        </p:nvSpPr>
        <p:spPr>
          <a:xfrm>
            <a:off x="9400032" y="1871526"/>
            <a:ext cx="1380223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PRIVATE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B20BE-AFF1-BCF8-597F-912175F97DE7}"/>
              </a:ext>
            </a:extLst>
          </p:cNvPr>
          <p:cNvSpPr/>
          <p:nvPr/>
        </p:nvSpPr>
        <p:spPr>
          <a:xfrm>
            <a:off x="7184281" y="3172078"/>
            <a:ext cx="939800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TAKEAWAY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D50F0D-0749-CC82-5D7A-2CD662A7AC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9526" y="4554364"/>
            <a:ext cx="3298546" cy="20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01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382A9-20EA-F989-5864-033A109D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48A62E-6FDF-AFB1-6473-B5A8D9FD9C1D}"/>
              </a:ext>
            </a:extLst>
          </p:cNvPr>
          <p:cNvSpPr/>
          <p:nvPr/>
        </p:nvSpPr>
        <p:spPr>
          <a:xfrm>
            <a:off x="7010537" y="3026388"/>
            <a:ext cx="4417085" cy="1232566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00A08-F246-911B-9A24-6EB20E64F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8) Stablecoin (simple idea)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2753-C79F-E418-7D19-0A6D452B9F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Stablecoin = “digital dollars” that try to stay at $1.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A company (issuer) promises you can trade 1 token for 1 dollar (or similar).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69A91-0E4D-1AFB-ABC7-8BF50041273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Simple “money loop”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How tokens relate to real money.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921225-B200-14C2-C0D3-647D49196956}"/>
              </a:ext>
            </a:extLst>
          </p:cNvPr>
          <p:cNvSpPr/>
          <p:nvPr/>
        </p:nvSpPr>
        <p:spPr>
          <a:xfrm>
            <a:off x="377516" y="2612213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C817F-1F70-DFDD-3B78-EBB08FA3534E}"/>
              </a:ext>
            </a:extLst>
          </p:cNvPr>
          <p:cNvSpPr/>
          <p:nvPr/>
        </p:nvSpPr>
        <p:spPr>
          <a:xfrm>
            <a:off x="485466" y="2732863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613B3-D58C-430A-5D24-C54A9AB8B175}"/>
              </a:ext>
            </a:extLst>
          </p:cNvPr>
          <p:cNvSpPr txBox="1"/>
          <p:nvPr/>
        </p:nvSpPr>
        <p:spPr>
          <a:xfrm>
            <a:off x="1018866" y="2732863"/>
            <a:ext cx="4972050" cy="55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Key actions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Mint (create) • Transfer • Redeem/burn (cash out).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99EE2A1-E4DD-EAE1-8C4B-F420AFA5A5F2}"/>
              </a:ext>
            </a:extLst>
          </p:cNvPr>
          <p:cNvSpPr/>
          <p:nvPr/>
        </p:nvSpPr>
        <p:spPr>
          <a:xfrm>
            <a:off x="377516" y="3596463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6930687-49F4-32E4-BD28-D186E72CD83B}"/>
              </a:ext>
            </a:extLst>
          </p:cNvPr>
          <p:cNvSpPr/>
          <p:nvPr/>
        </p:nvSpPr>
        <p:spPr>
          <a:xfrm>
            <a:off x="485466" y="3717113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92083-6E7A-2596-AA62-D4977C648EF3}"/>
              </a:ext>
            </a:extLst>
          </p:cNvPr>
          <p:cNvSpPr txBox="1"/>
          <p:nvPr/>
        </p:nvSpPr>
        <p:spPr>
          <a:xfrm>
            <a:off x="1018866" y="3717113"/>
            <a:ext cx="5264150" cy="55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Big risk question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Do you trust the issuer’s reserves and controls?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A50E60-6B9A-ADB4-1F9F-26F819535B24}"/>
              </a:ext>
            </a:extLst>
          </p:cNvPr>
          <p:cNvGrpSpPr/>
          <p:nvPr/>
        </p:nvGrpSpPr>
        <p:grpSpPr>
          <a:xfrm>
            <a:off x="377516" y="1627963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8297203-3630-7776-1BDE-2687E16271A7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13A115-9058-1990-257B-31D89993D896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917C95-4711-E4E9-383B-76B3CD405988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551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Why people use it</a:t>
              </a:r>
            </a:p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Fast 24/7 transfers on crypto rails without wild price swings.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145EC84F-6BA9-9B13-4FE1-CF2EEF824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F83B230-32A3-B877-AB3E-7A43C0D7B249}"/>
              </a:ext>
            </a:extLst>
          </p:cNvPr>
          <p:cNvSpPr/>
          <p:nvPr/>
        </p:nvSpPr>
        <p:spPr>
          <a:xfrm>
            <a:off x="7010537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3E6313E-D49E-2068-2F68-6D288C663EB2}"/>
              </a:ext>
            </a:extLst>
          </p:cNvPr>
          <p:cNvSpPr/>
          <p:nvPr/>
        </p:nvSpPr>
        <p:spPr>
          <a:xfrm>
            <a:off x="7135762" y="1889527"/>
            <a:ext cx="1240141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CASH (FIAT)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FC7566-E1D3-4D06-9B4C-DD1B44F98EF6}"/>
              </a:ext>
            </a:extLst>
          </p:cNvPr>
          <p:cNvSpPr txBox="1"/>
          <p:nvPr/>
        </p:nvSpPr>
        <p:spPr>
          <a:xfrm>
            <a:off x="7059563" y="2174366"/>
            <a:ext cx="1810352" cy="38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You give $ to the issuer (or an approved partner).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468FBE-B419-2D5E-4096-6854FF940807}"/>
              </a:ext>
            </a:extLst>
          </p:cNvPr>
          <p:cNvSpPr txBox="1"/>
          <p:nvPr/>
        </p:nvSpPr>
        <p:spPr>
          <a:xfrm>
            <a:off x="8993595" y="214829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F82B94-050D-C528-55DA-3D2D775F6A3A}"/>
              </a:ext>
            </a:extLst>
          </p:cNvPr>
          <p:cNvSpPr txBox="1"/>
          <p:nvPr/>
        </p:nvSpPr>
        <p:spPr>
          <a:xfrm>
            <a:off x="7059564" y="3482302"/>
            <a:ext cx="4323324" cy="238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Later you trade tokens back for cash (if issuer allows).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25B94603-CBBE-6B44-F74A-CF38B4335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298" y="2750863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11621E05-15E4-38FF-2C9A-76E4216FFF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6082" y="1784613"/>
            <a:ext cx="324000" cy="32400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E248D95-6CDC-5215-AD0F-4BDA5E18967B}"/>
              </a:ext>
            </a:extLst>
          </p:cNvPr>
          <p:cNvSpPr/>
          <p:nvPr/>
        </p:nvSpPr>
        <p:spPr>
          <a:xfrm>
            <a:off x="9444564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16BAA4-5573-0B85-49D0-0806DADDA59B}"/>
              </a:ext>
            </a:extLst>
          </p:cNvPr>
          <p:cNvSpPr txBox="1"/>
          <p:nvPr/>
        </p:nvSpPr>
        <p:spPr>
          <a:xfrm>
            <a:off x="9493590" y="2174366"/>
            <a:ext cx="1810352" cy="529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issuer mints tokens you can send anywhere on the network.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5D4387-CFA5-A3B5-CA1F-F232A799C686}"/>
              </a:ext>
            </a:extLst>
          </p:cNvPr>
          <p:cNvSpPr/>
          <p:nvPr/>
        </p:nvSpPr>
        <p:spPr>
          <a:xfrm>
            <a:off x="9500905" y="1880526"/>
            <a:ext cx="1380223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STABLECOIN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684E8D6-D899-EB69-95E7-006A603A9710}"/>
              </a:ext>
            </a:extLst>
          </p:cNvPr>
          <p:cNvSpPr/>
          <p:nvPr/>
        </p:nvSpPr>
        <p:spPr>
          <a:xfrm>
            <a:off x="7146688" y="3211816"/>
            <a:ext cx="1003300" cy="234951"/>
          </a:xfrm>
          <a:prstGeom prst="roundRect">
            <a:avLst>
              <a:gd name="adj" fmla="val 50000"/>
            </a:avLst>
          </a:prstGeom>
          <a:solidFill>
            <a:srgbClr val="FFC000">
              <a:alpha val="40572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REDEEM</a:t>
            </a:r>
            <a:endParaRPr lang="en-US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C1DAC-A7B3-30A2-F302-66EFD49B60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2939" y="4599080"/>
            <a:ext cx="3601669" cy="202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FAA3-268E-95EF-5092-9FFA3297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086979F-762F-3D0F-9CE6-8EF6F8927F9F}"/>
              </a:ext>
            </a:extLst>
          </p:cNvPr>
          <p:cNvSpPr/>
          <p:nvPr/>
        </p:nvSpPr>
        <p:spPr>
          <a:xfrm>
            <a:off x="7010537" y="3041308"/>
            <a:ext cx="4417085" cy="1232566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6DF8A-E6EF-EB90-C210-2957B4E3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9) Tokenized deposits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26015-2113-2B06-FF00-CFF1EE77CB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Tokenized deposit = “your bank deposit, represented as a token.”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Unlike stablecoins, it’s typically issued by the bank and tied to the bank’s deposit ledger.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026D9-7F4F-6C65-03A3-B4D5E8FE21A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How it connects to the bank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Tokens should always reconcile to the bank’s books.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1AFACD6-0B37-3E74-B8BB-021395492736}"/>
              </a:ext>
            </a:extLst>
          </p:cNvPr>
          <p:cNvSpPr/>
          <p:nvPr/>
        </p:nvSpPr>
        <p:spPr>
          <a:xfrm>
            <a:off x="404006" y="2999918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AD3B69-D55F-2DD1-BCDC-251644C79E1B}"/>
              </a:ext>
            </a:extLst>
          </p:cNvPr>
          <p:cNvSpPr/>
          <p:nvPr/>
        </p:nvSpPr>
        <p:spPr>
          <a:xfrm>
            <a:off x="511956" y="3120568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E0D5D2-9341-D4ED-ABBA-FB6F67A6546C}"/>
              </a:ext>
            </a:extLst>
          </p:cNvPr>
          <p:cNvSpPr txBox="1"/>
          <p:nvPr/>
        </p:nvSpPr>
        <p:spPr>
          <a:xfrm>
            <a:off x="1045356" y="3120568"/>
            <a:ext cx="49720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Why do it?</a:t>
            </a:r>
          </a:p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Faster settlement between approved members (e.g., internal flows or partner networks).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0F31C66-03A9-69B5-D32F-60241FC556E1}"/>
              </a:ext>
            </a:extLst>
          </p:cNvPr>
          <p:cNvSpPr/>
          <p:nvPr/>
        </p:nvSpPr>
        <p:spPr>
          <a:xfrm>
            <a:off x="404006" y="3984168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429397-F015-D13B-5E71-803927D4710E}"/>
              </a:ext>
            </a:extLst>
          </p:cNvPr>
          <p:cNvSpPr/>
          <p:nvPr/>
        </p:nvSpPr>
        <p:spPr>
          <a:xfrm>
            <a:off x="511956" y="4104818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50987-8112-65BB-F069-DF6AF50A4502}"/>
              </a:ext>
            </a:extLst>
          </p:cNvPr>
          <p:cNvSpPr txBox="1"/>
          <p:nvPr/>
        </p:nvSpPr>
        <p:spPr>
          <a:xfrm>
            <a:off x="1045356" y="4104818"/>
            <a:ext cx="52641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Key promise</a:t>
            </a:r>
          </a:p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 token matches 1 unit of deposit balance (with clear rules).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1BB14-CF54-4B62-C7F1-4DC3202D6118}"/>
              </a:ext>
            </a:extLst>
          </p:cNvPr>
          <p:cNvGrpSpPr/>
          <p:nvPr/>
        </p:nvGrpSpPr>
        <p:grpSpPr>
          <a:xfrm>
            <a:off x="404006" y="2015668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4DB9B69-24AB-78A2-56AB-BB3ADCE3A14D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ABE623B-2C56-A385-97A9-1FE7B74BB0E4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7A1512-CB7F-64E8-AD34-12A1F1BB50E7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It’s still bank money</a:t>
              </a:r>
            </a:p>
            <a:p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The bank remains the issuer and operator of the deposit liability.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FE019080-B08B-30E9-8338-EEC72C423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EE480AF-8A41-F663-7CBD-D923B1C372CE}"/>
              </a:ext>
            </a:extLst>
          </p:cNvPr>
          <p:cNvSpPr/>
          <p:nvPr/>
        </p:nvSpPr>
        <p:spPr>
          <a:xfrm>
            <a:off x="7010537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D8F2B5F-969D-EDE2-13A0-50296DF67360}"/>
              </a:ext>
            </a:extLst>
          </p:cNvPr>
          <p:cNvSpPr/>
          <p:nvPr/>
        </p:nvSpPr>
        <p:spPr>
          <a:xfrm>
            <a:off x="7135762" y="1889527"/>
            <a:ext cx="1240141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CORE DEPOSIT LEDGER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DAAEA1-258C-2A22-CDF7-1FEA03F7B9B1}"/>
              </a:ext>
            </a:extLst>
          </p:cNvPr>
          <p:cNvSpPr txBox="1"/>
          <p:nvPr/>
        </p:nvSpPr>
        <p:spPr>
          <a:xfrm>
            <a:off x="7059563" y="2174366"/>
            <a:ext cx="1810352" cy="38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bank’s “source of truth” for balances.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F22DF7-C0F7-3F2F-2370-4741467F1F8A}"/>
              </a:ext>
            </a:extLst>
          </p:cNvPr>
          <p:cNvSpPr txBox="1"/>
          <p:nvPr/>
        </p:nvSpPr>
        <p:spPr>
          <a:xfrm>
            <a:off x="8993595" y="214829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215D44-E382-59D0-B97C-093E2F36EF48}"/>
              </a:ext>
            </a:extLst>
          </p:cNvPr>
          <p:cNvSpPr txBox="1"/>
          <p:nvPr/>
        </p:nvSpPr>
        <p:spPr>
          <a:xfrm>
            <a:off x="7059564" y="3497222"/>
            <a:ext cx="4323324" cy="238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Identity, approvals, limits, audit logs, and reconciliation are essential.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C02E10F3-3469-2F0F-B7DF-0FEC99510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8" y="3138568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FCF130B6-9347-9EB5-4A0F-1031892FEC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572" y="2172318"/>
            <a:ext cx="324000" cy="32400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50F844A-98FD-5602-2D0A-904F3BDC9D36}"/>
              </a:ext>
            </a:extLst>
          </p:cNvPr>
          <p:cNvSpPr/>
          <p:nvPr/>
        </p:nvSpPr>
        <p:spPr>
          <a:xfrm>
            <a:off x="9444564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DD4A67-54B1-9D55-8618-F6B888ED2433}"/>
              </a:ext>
            </a:extLst>
          </p:cNvPr>
          <p:cNvSpPr txBox="1"/>
          <p:nvPr/>
        </p:nvSpPr>
        <p:spPr>
          <a:xfrm>
            <a:off x="9493590" y="2174366"/>
            <a:ext cx="181035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Approved members transfer deposit-tokens under policy rules.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051E984-E1D3-BD58-DABC-C1A8C7E22E94}"/>
              </a:ext>
            </a:extLst>
          </p:cNvPr>
          <p:cNvSpPr/>
          <p:nvPr/>
        </p:nvSpPr>
        <p:spPr>
          <a:xfrm>
            <a:off x="9500905" y="1880526"/>
            <a:ext cx="1380223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TOKEN NETWORK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FD82FF9-AFE9-C2BD-5C0C-EF0AFEFD7CAE}"/>
              </a:ext>
            </a:extLst>
          </p:cNvPr>
          <p:cNvSpPr/>
          <p:nvPr/>
        </p:nvSpPr>
        <p:spPr>
          <a:xfrm>
            <a:off x="7146688" y="3226736"/>
            <a:ext cx="1003300" cy="234951"/>
          </a:xfrm>
          <a:prstGeom prst="roundRect">
            <a:avLst>
              <a:gd name="adj" fmla="val 50000"/>
            </a:avLst>
          </a:prstGeom>
          <a:solidFill>
            <a:srgbClr val="FFC000">
              <a:alpha val="40572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CONTROLS</a:t>
            </a:r>
            <a:endParaRPr lang="en-US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73D65B-4A23-798B-440F-E1BA5DF07E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3383" y="4284818"/>
            <a:ext cx="3902074" cy="224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72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3D65C-34BE-F64E-E3D8-A0145F00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643B1F-9FA9-A301-BEA6-A5A7628B6CCD}"/>
              </a:ext>
            </a:extLst>
          </p:cNvPr>
          <p:cNvSpPr/>
          <p:nvPr/>
        </p:nvSpPr>
        <p:spPr>
          <a:xfrm>
            <a:off x="7010536" y="3324804"/>
            <a:ext cx="4417085" cy="1232566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4C7EB-1BE9-2C7C-7A78-461F61B57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10) NB250A (tokenizing operations)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2FF28-5CF9-1902-EF0E-E8A3CF4B6D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Sometimes we don’t tokenize money — we tokenize the process.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NB250A can be thought of as using a shared log to prove “what happened” across teams.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DDD2-48CE-B83E-C1A4-3039C26992D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A simple workflow log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Each step adds an immutable event.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0B1279B-B944-3BC9-47A9-679AD3B0748E}"/>
              </a:ext>
            </a:extLst>
          </p:cNvPr>
          <p:cNvSpPr/>
          <p:nvPr/>
        </p:nvSpPr>
        <p:spPr>
          <a:xfrm>
            <a:off x="404006" y="2999918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A5AED6-395C-6130-1450-429B31806695}"/>
              </a:ext>
            </a:extLst>
          </p:cNvPr>
          <p:cNvSpPr/>
          <p:nvPr/>
        </p:nvSpPr>
        <p:spPr>
          <a:xfrm>
            <a:off x="511956" y="3120568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CEBDED-2C81-B32E-4831-C573A158A951}"/>
              </a:ext>
            </a:extLst>
          </p:cNvPr>
          <p:cNvSpPr txBox="1"/>
          <p:nvPr/>
        </p:nvSpPr>
        <p:spPr>
          <a:xfrm>
            <a:off x="1045356" y="3120568"/>
            <a:ext cx="49720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Fewer disputes</a:t>
            </a:r>
          </a:p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If everyone sees the same status, there’s less “who is right?”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F432904-498F-B83E-644D-49D4A12BC700}"/>
              </a:ext>
            </a:extLst>
          </p:cNvPr>
          <p:cNvSpPr/>
          <p:nvPr/>
        </p:nvSpPr>
        <p:spPr>
          <a:xfrm>
            <a:off x="404006" y="3984168"/>
            <a:ext cx="5949950" cy="8636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2C67977-7296-4B64-5539-CC3847B5DE2C}"/>
              </a:ext>
            </a:extLst>
          </p:cNvPr>
          <p:cNvSpPr/>
          <p:nvPr/>
        </p:nvSpPr>
        <p:spPr>
          <a:xfrm>
            <a:off x="511956" y="4104818"/>
            <a:ext cx="360000" cy="36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8E9A47-3CB5-5278-E919-5F807B74E749}"/>
              </a:ext>
            </a:extLst>
          </p:cNvPr>
          <p:cNvSpPr txBox="1"/>
          <p:nvPr/>
        </p:nvSpPr>
        <p:spPr>
          <a:xfrm>
            <a:off x="1045356" y="4104818"/>
            <a:ext cx="52641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/>
              <a:t>Works with many workflows</a:t>
            </a:r>
          </a:p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Trade ops, approvals, investigations, handoffs, reporting, etc.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5767C1-51F4-4DDD-173E-0E201CCE5B60}"/>
              </a:ext>
            </a:extLst>
          </p:cNvPr>
          <p:cNvGrpSpPr/>
          <p:nvPr/>
        </p:nvGrpSpPr>
        <p:grpSpPr>
          <a:xfrm>
            <a:off x="404006" y="2015668"/>
            <a:ext cx="5949950" cy="2470441"/>
            <a:chOff x="438150" y="2082800"/>
            <a:chExt cx="5949950" cy="247044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7B2B5EB-C759-5709-0BFE-7323A67B1E82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85BAC37-BE04-C584-3018-A476B025CEED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F26227-7D4C-87C1-8025-50D9F99A86C3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Shared audit trail</a:t>
              </a:r>
            </a:p>
            <a:p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Each step writes an event (who/what/when).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77A739FB-6F33-C656-787B-BD49FDA7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716" y="4229241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C727CA6-A9F9-3B96-FF64-59DBC61AE718}"/>
              </a:ext>
            </a:extLst>
          </p:cNvPr>
          <p:cNvSpPr/>
          <p:nvPr/>
        </p:nvSpPr>
        <p:spPr>
          <a:xfrm>
            <a:off x="7010537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0FDEF0D-5AA4-07AD-3EB0-917E2B3034E7}"/>
              </a:ext>
            </a:extLst>
          </p:cNvPr>
          <p:cNvSpPr/>
          <p:nvPr/>
        </p:nvSpPr>
        <p:spPr>
          <a:xfrm>
            <a:off x="7135763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1) REQUEST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9AA65B-D0DF-A85E-B8A5-E51129699C1E}"/>
              </a:ext>
            </a:extLst>
          </p:cNvPr>
          <p:cNvSpPr txBox="1"/>
          <p:nvPr/>
        </p:nvSpPr>
        <p:spPr>
          <a:xfrm>
            <a:off x="7059563" y="2174366"/>
            <a:ext cx="18103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Created with a unique ID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26D45D-756E-915F-13B8-9FE0E28E5DE0}"/>
              </a:ext>
            </a:extLst>
          </p:cNvPr>
          <p:cNvSpPr txBox="1"/>
          <p:nvPr/>
        </p:nvSpPr>
        <p:spPr>
          <a:xfrm>
            <a:off x="8993595" y="2148297"/>
            <a:ext cx="50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tx2">
                    <a:lumMod val="50000"/>
                    <a:lumOff val="50000"/>
                  </a:schemeClr>
                </a:solidFill>
                <a:latin typeface="ui-sans-serif"/>
              </a:rPr>
              <a:t>→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26ACC6-EDA1-38A1-D3E1-AE8A50480DB4}"/>
              </a:ext>
            </a:extLst>
          </p:cNvPr>
          <p:cNvSpPr txBox="1"/>
          <p:nvPr/>
        </p:nvSpPr>
        <p:spPr>
          <a:xfrm>
            <a:off x="7059563" y="3780718"/>
            <a:ext cx="43233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Execution + evidence is written to the shared log.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" name="Graphic 28" descr="Medieval Armor outline">
            <a:extLst>
              <a:ext uri="{FF2B5EF4-FFF2-40B4-BE49-F238E27FC236}">
                <a16:creationId xmlns:a16="http://schemas.microsoft.com/office/drawing/2014/main" id="{D121F8C9-75C0-6C1F-81D1-4D7623BF3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8" y="3138568"/>
            <a:ext cx="324000" cy="324000"/>
          </a:xfrm>
          <a:prstGeom prst="rect">
            <a:avLst/>
          </a:prstGeom>
        </p:spPr>
      </p:pic>
      <p:pic>
        <p:nvPicPr>
          <p:cNvPr id="31" name="Graphic 30" descr="Hamburger Menu Icon with solid fill">
            <a:extLst>
              <a:ext uri="{FF2B5EF4-FFF2-40B4-BE49-F238E27FC236}">
                <a16:creationId xmlns:a16="http://schemas.microsoft.com/office/drawing/2014/main" id="{29169DF2-0DEB-1C8F-E6C9-868BFA1C12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572" y="2172318"/>
            <a:ext cx="324000" cy="32400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270C44A-63A3-0FD7-061B-3A3E94E6CE47}"/>
              </a:ext>
            </a:extLst>
          </p:cNvPr>
          <p:cNvSpPr/>
          <p:nvPr/>
        </p:nvSpPr>
        <p:spPr>
          <a:xfrm>
            <a:off x="9444564" y="1787927"/>
            <a:ext cx="1983058" cy="1140014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0C9FF15-3CFC-6BA0-D6B0-9245961D48B9}"/>
              </a:ext>
            </a:extLst>
          </p:cNvPr>
          <p:cNvSpPr/>
          <p:nvPr/>
        </p:nvSpPr>
        <p:spPr>
          <a:xfrm>
            <a:off x="9569790" y="1889527"/>
            <a:ext cx="939800" cy="209550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2) APPROVE</a:t>
            </a:r>
            <a:endParaRPr lang="en-US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B398C0-D50E-06DA-8428-5E7A6D6CE677}"/>
              </a:ext>
            </a:extLst>
          </p:cNvPr>
          <p:cNvSpPr txBox="1"/>
          <p:nvPr/>
        </p:nvSpPr>
        <p:spPr>
          <a:xfrm>
            <a:off x="9493590" y="2174366"/>
            <a:ext cx="18103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Approvers sign/attest.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98AE68-D7B2-248A-4C2C-4C2E24C24545}"/>
              </a:ext>
            </a:extLst>
          </p:cNvPr>
          <p:cNvSpPr/>
          <p:nvPr/>
        </p:nvSpPr>
        <p:spPr>
          <a:xfrm>
            <a:off x="7105409" y="3426561"/>
            <a:ext cx="1380223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3) EXECUTE &amp; RECORD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372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0A7C-AB44-10E5-3E32-B1F45023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FF112CC-4524-6D98-ED97-AC4EB3FA1D08}"/>
              </a:ext>
            </a:extLst>
          </p:cNvPr>
          <p:cNvSpPr/>
          <p:nvPr/>
        </p:nvSpPr>
        <p:spPr>
          <a:xfrm>
            <a:off x="6999989" y="2850625"/>
            <a:ext cx="4784490" cy="1498601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20F05-2D97-ED62-A578-759F31A2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11) Potential use cases at Scotiabank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BC264-1872-A5E9-CE7C-88B18780A9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Where this can help (simple examples)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Think “faster settlement, clearer audit, fewer handoff gaps.”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9AD15-5DCE-EBC4-A918-75E2114CF30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HK" b="1" dirty="0"/>
              <a:t>A simple “fit check”</a:t>
            </a:r>
          </a:p>
          <a:p>
            <a:pPr marL="0" indent="0">
              <a:buNone/>
            </a:pPr>
            <a:r>
              <a:rPr lang="en-HK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ptos" panose="02110004020202020204"/>
              </a:rPr>
              <a:t>Use cases tend to fit when these are true: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F162C40-DFE1-75F3-6989-10E26FD5EE1C}"/>
              </a:ext>
            </a:extLst>
          </p:cNvPr>
          <p:cNvGrpSpPr/>
          <p:nvPr/>
        </p:nvGrpSpPr>
        <p:grpSpPr>
          <a:xfrm>
            <a:off x="469900" y="3559175"/>
            <a:ext cx="5949950" cy="863600"/>
            <a:chOff x="438150" y="2082800"/>
            <a:chExt cx="5949950" cy="8636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80A8C48-2720-B7CD-BADE-91B6354F6513}"/>
                </a:ext>
              </a:extLst>
            </p:cNvPr>
            <p:cNvSpPr/>
            <p:nvPr/>
          </p:nvSpPr>
          <p:spPr>
            <a:xfrm>
              <a:off x="438150" y="2082800"/>
              <a:ext cx="5949950" cy="863600"/>
            </a:xfrm>
            <a:prstGeom prst="roundRect">
              <a:avLst>
                <a:gd name="adj" fmla="val 7993"/>
              </a:avLst>
            </a:prstGeom>
            <a:solidFill>
              <a:schemeClr val="accent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B0DEAD-C462-4F01-FE19-1A652F202C72}"/>
                </a:ext>
              </a:extLst>
            </p:cNvPr>
            <p:cNvSpPr/>
            <p:nvPr/>
          </p:nvSpPr>
          <p:spPr>
            <a:xfrm>
              <a:off x="546100" y="2203450"/>
              <a:ext cx="360000" cy="36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ECF7EA-C729-C0F0-A5A0-8C091C2278C4}"/>
                </a:ext>
              </a:extLst>
            </p:cNvPr>
            <p:cNvSpPr txBox="1"/>
            <p:nvPr/>
          </p:nvSpPr>
          <p:spPr>
            <a:xfrm>
              <a:off x="1079500" y="2122185"/>
              <a:ext cx="4972050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/>
                <a:t>Important note</a:t>
              </a:r>
            </a:p>
            <a:p>
              <a:r>
                <a:rPr lang="en-HK" sz="105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Every use case needs controls: identity, approvals, monitoring, and reconciliation.</a:t>
              </a:r>
              <a:endPara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6D29158A-4864-B0E3-A497-229A7B83B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9932" y="2245188"/>
              <a:ext cx="324000" cy="324000"/>
            </a:xfrm>
            <a:prstGeom prst="rect">
              <a:avLst/>
            </a:prstGeom>
          </p:spPr>
        </p:pic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05FD040-A074-4F34-8E10-2E09FA79E002}"/>
              </a:ext>
            </a:extLst>
          </p:cNvPr>
          <p:cNvSpPr/>
          <p:nvPr/>
        </p:nvSpPr>
        <p:spPr>
          <a:xfrm>
            <a:off x="7010536" y="1787927"/>
            <a:ext cx="2301714" cy="9779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14760F-2955-27FA-4FFE-3C5DCF2B50AD}"/>
              </a:ext>
            </a:extLst>
          </p:cNvPr>
          <p:cNvSpPr txBox="1"/>
          <p:nvPr/>
        </p:nvSpPr>
        <p:spPr>
          <a:xfrm>
            <a:off x="7059563" y="2174366"/>
            <a:ext cx="1828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Multiple teams/banks need the same status.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67DAC80-359E-A611-ADB5-A8A5402C00E7}"/>
              </a:ext>
            </a:extLst>
          </p:cNvPr>
          <p:cNvSpPr/>
          <p:nvPr/>
        </p:nvSpPr>
        <p:spPr>
          <a:xfrm>
            <a:off x="9418563" y="1787927"/>
            <a:ext cx="2376463" cy="977900"/>
          </a:xfrm>
          <a:prstGeom prst="roundRect">
            <a:avLst>
              <a:gd name="adj" fmla="val 7993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ECDA9B-8C42-59F8-AF5E-DD17ECF3E433}"/>
              </a:ext>
            </a:extLst>
          </p:cNvPr>
          <p:cNvSpPr txBox="1"/>
          <p:nvPr/>
        </p:nvSpPr>
        <p:spPr>
          <a:xfrm>
            <a:off x="9552562" y="2174366"/>
            <a:ext cx="209641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Today there is lots of matching and exceptions.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87502D-7E00-AB21-B972-EFB4D5E950A7}"/>
              </a:ext>
            </a:extLst>
          </p:cNvPr>
          <p:cNvSpPr txBox="1"/>
          <p:nvPr/>
        </p:nvSpPr>
        <p:spPr>
          <a:xfrm>
            <a:off x="7059563" y="3253866"/>
            <a:ext cx="43233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Because multiple ledgers exists, banks must ensure they match  -  even if it takes time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D0F02CA-135B-A47E-C6CC-6317F77EFB8B}"/>
              </a:ext>
            </a:extLst>
          </p:cNvPr>
          <p:cNvSpPr/>
          <p:nvPr/>
        </p:nvSpPr>
        <p:spPr>
          <a:xfrm>
            <a:off x="457064" y="1765301"/>
            <a:ext cx="1740036" cy="1536700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200" b="1" dirty="0">
                <a:solidFill>
                  <a:schemeClr val="tx1"/>
                </a:solidFill>
              </a:rPr>
              <a:t>Cross-border payments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209B34-48E6-C70A-89E8-D5F0186C8715}"/>
              </a:ext>
            </a:extLst>
          </p:cNvPr>
          <p:cNvSpPr txBox="1"/>
          <p:nvPr/>
        </p:nvSpPr>
        <p:spPr>
          <a:xfrm>
            <a:off x="529202" y="2152650"/>
            <a:ext cx="15957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24/7 transfer + clearer status tracking.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A00FCB1-764B-1992-A8FF-8B898C14C0D2}"/>
              </a:ext>
            </a:extLst>
          </p:cNvPr>
          <p:cNvSpPr/>
          <p:nvPr/>
        </p:nvSpPr>
        <p:spPr>
          <a:xfrm>
            <a:off x="2533582" y="1781577"/>
            <a:ext cx="1740036" cy="1536700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200" b="1" dirty="0">
                <a:solidFill>
                  <a:schemeClr val="tx1"/>
                </a:solidFill>
              </a:rPr>
              <a:t>Treasury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B1CB21-1A2B-DADC-B9B4-EBBFDA8784C9}"/>
              </a:ext>
            </a:extLst>
          </p:cNvPr>
          <p:cNvSpPr txBox="1"/>
          <p:nvPr/>
        </p:nvSpPr>
        <p:spPr>
          <a:xfrm>
            <a:off x="2605720" y="2168926"/>
            <a:ext cx="15957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Liquidity moves faster; better intraday control.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7EAA400-882A-7F38-073C-D005976D1B8D}"/>
              </a:ext>
            </a:extLst>
          </p:cNvPr>
          <p:cNvSpPr/>
          <p:nvPr/>
        </p:nvSpPr>
        <p:spPr>
          <a:xfrm>
            <a:off x="4610100" y="1787927"/>
            <a:ext cx="1740036" cy="1536700"/>
          </a:xfrm>
          <a:prstGeom prst="roundRect">
            <a:avLst>
              <a:gd name="adj" fmla="val 7993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800000" scaled="0"/>
          </a:gradFill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200" b="1" dirty="0">
                <a:solidFill>
                  <a:schemeClr val="tx1"/>
                </a:solidFill>
              </a:rPr>
              <a:t>Operations audit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0ABA1E-98BC-D4FF-1152-805E7BE4055D}"/>
              </a:ext>
            </a:extLst>
          </p:cNvPr>
          <p:cNvSpPr txBox="1"/>
          <p:nvPr/>
        </p:nvSpPr>
        <p:spPr>
          <a:xfrm>
            <a:off x="4682238" y="2175276"/>
            <a:ext cx="159575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Shared event log reduces disputes and manual checking.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E5C728-4060-8ED9-0300-2A4DE8255CAA}"/>
              </a:ext>
            </a:extLst>
          </p:cNvPr>
          <p:cNvSpPr/>
          <p:nvPr/>
        </p:nvSpPr>
        <p:spPr>
          <a:xfrm>
            <a:off x="7126890" y="2997955"/>
            <a:ext cx="939800" cy="2275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AUDIT MATTERS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DE70CA-3DE1-ADB1-42EB-43C1ADE2BCC0}"/>
              </a:ext>
            </a:extLst>
          </p:cNvPr>
          <p:cNvSpPr/>
          <p:nvPr/>
        </p:nvSpPr>
        <p:spPr>
          <a:xfrm>
            <a:off x="7126890" y="1904416"/>
            <a:ext cx="1000507" cy="22755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CRYPTO-STYLE</a:t>
            </a:r>
            <a:endParaRPr lang="en-US" sz="10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2A632E-53CD-00DE-967A-774D9DEA3770}"/>
              </a:ext>
            </a:extLst>
          </p:cNvPr>
          <p:cNvSpPr/>
          <p:nvPr/>
        </p:nvSpPr>
        <p:spPr>
          <a:xfrm>
            <a:off x="9552562" y="1863671"/>
            <a:ext cx="1003300" cy="234951"/>
          </a:xfrm>
          <a:prstGeom prst="roundRect">
            <a:avLst>
              <a:gd name="adj" fmla="val 50000"/>
            </a:avLst>
          </a:prstGeom>
          <a:solidFill>
            <a:srgbClr val="FFC000">
              <a:alpha val="40572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75000"/>
                  </a:schemeClr>
                </a:solidFill>
              </a:rPr>
              <a:t>WHY IT MATTERS</a:t>
            </a:r>
            <a:endParaRPr lang="en-US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5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cotia Crypto 2">
      <a:dk1>
        <a:srgbClr val="000000"/>
      </a:dk1>
      <a:lt1>
        <a:srgbClr val="FFFFFF"/>
      </a:lt1>
      <a:dk2>
        <a:srgbClr val="121417"/>
      </a:dk2>
      <a:lt2>
        <a:srgbClr val="E31837"/>
      </a:lt2>
      <a:accent1>
        <a:srgbClr val="E6EAF0"/>
      </a:accent1>
      <a:accent2>
        <a:srgbClr val="F5F7FA"/>
      </a:accent2>
      <a:accent3>
        <a:srgbClr val="1A7F37"/>
      </a:accent3>
      <a:accent4>
        <a:srgbClr val="0F9ED5"/>
      </a:accent4>
      <a:accent5>
        <a:srgbClr val="A02B93"/>
      </a:accent5>
      <a:accent6>
        <a:srgbClr val="B10F28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1895</Words>
  <Application>Microsoft Macintosh PowerPoint</Application>
  <PresentationFormat>Widescreen</PresentationFormat>
  <Paragraphs>253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ui-sans-serif</vt:lpstr>
      <vt:lpstr>Office Theme</vt:lpstr>
      <vt:lpstr>1) What does a bank do today, and why do people trust it?</vt:lpstr>
      <vt:lpstr>2) Cryptocurrencies: the shared ledger concept (before blockchain details)</vt:lpstr>
      <vt:lpstr>3) What crypto changes (and what banks still do)</vt:lpstr>
      <vt:lpstr>4) What is a blockchain?</vt:lpstr>
      <vt:lpstr>5) Smart contracts: “rules that run” on the shared ledger</vt:lpstr>
      <vt:lpstr>6) Introducing a blockchain network</vt:lpstr>
      <vt:lpstr>7) Two network models: Public vs Private</vt:lpstr>
      <vt:lpstr>8) Stablecoin (simple idea)</vt:lpstr>
      <vt:lpstr>9) Tokenized deposits</vt:lpstr>
      <vt:lpstr>10) NB250A (tokenizing operations)</vt:lpstr>
      <vt:lpstr>11) Potential use cases at Scotiabank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Wong</dc:creator>
  <cp:lastModifiedBy>Edward Wong</cp:lastModifiedBy>
  <cp:revision>21</cp:revision>
  <dcterms:created xsi:type="dcterms:W3CDTF">2026-01-19T21:15:48Z</dcterms:created>
  <dcterms:modified xsi:type="dcterms:W3CDTF">2026-01-20T02:35:53Z</dcterms:modified>
</cp:coreProperties>
</file>